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Garamond"/>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Garamond-bold.fntdata"/><Relationship Id="rId23" Type="http://schemas.openxmlformats.org/officeDocument/2006/relationships/font" Target="fonts/Garamond-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Garamond-boldItalic.fntdata"/><Relationship Id="rId25" Type="http://schemas.openxmlformats.org/officeDocument/2006/relationships/font" Target="fonts/Garamon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ee2e65465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dee2e65465_2_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ee2e65465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dee2e65465_2_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ee2e65465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dee2e65465_2_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ee2e65465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dee2e65465_2_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ee2e65465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dee2e65465_2_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ee2e65465_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dee2e65465_2_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ee2e65465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dee2e65465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ee2e65465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dee2e65465_2_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ee2e65465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dee2e65465_2_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ee2e65465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dee2e65465_2_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ee2e65465_2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dee2e65465_2_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ee2e65465_2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dee2e65465_2_1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ee2e65465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dee2e65465_2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ee2e65465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dee2e65465_2_1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ee2e6546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ee2e6546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sp>
        <p:nvSpPr>
          <p:cNvPr id="63" name="Google Shape;63;p14"/>
          <p:cNvSpPr txBox="1"/>
          <p:nvPr>
            <p:ph type="ctrTitle"/>
          </p:nvPr>
        </p:nvSpPr>
        <p:spPr>
          <a:xfrm>
            <a:off x="2019299" y="1403348"/>
            <a:ext cx="5111752" cy="1136650"/>
          </a:xfrm>
          <a:prstGeom prst="rect">
            <a:avLst/>
          </a:prstGeom>
          <a:noFill/>
          <a:ln>
            <a:noFill/>
          </a:ln>
        </p:spPr>
        <p:txBody>
          <a:bodyPr anchorCtr="0" anchor="b" bIns="34275" lIns="68575" spcFirstLastPara="1" rIns="68575" wrap="square" tIns="34275">
            <a:noAutofit/>
          </a:bodyPr>
          <a:lstStyle>
            <a:lvl1pPr lvl="0" algn="ctr">
              <a:spcBef>
                <a:spcPts val="0"/>
              </a:spcBef>
              <a:spcAft>
                <a:spcPts val="0"/>
              </a:spcAft>
              <a:buClr>
                <a:srgbClr val="262626"/>
              </a:buClr>
              <a:buSzPts val="4100"/>
              <a:buFont typeface="Garamond"/>
              <a:buNone/>
              <a:defRPr sz="41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4"/>
          <p:cNvSpPr txBox="1"/>
          <p:nvPr>
            <p:ph idx="1" type="subTitle"/>
          </p:nvPr>
        </p:nvSpPr>
        <p:spPr>
          <a:xfrm>
            <a:off x="2019299" y="2743198"/>
            <a:ext cx="5111752" cy="990602"/>
          </a:xfrm>
          <a:prstGeom prst="rect">
            <a:avLst/>
          </a:prstGeom>
          <a:noFill/>
          <a:ln>
            <a:noFill/>
          </a:ln>
        </p:spPr>
        <p:txBody>
          <a:bodyPr anchorCtr="0" anchor="t" bIns="34275" lIns="68575" spcFirstLastPara="1" rIns="68575" wrap="square" tIns="34275">
            <a:normAutofit/>
          </a:bodyPr>
          <a:lstStyle>
            <a:lvl1pPr lvl="0" algn="ctr">
              <a:spcBef>
                <a:spcPts val="300"/>
              </a:spcBef>
              <a:spcAft>
                <a:spcPts val="0"/>
              </a:spcAft>
              <a:buSzPts val="1800"/>
              <a:buNone/>
              <a:defRPr sz="1600">
                <a:solidFill>
                  <a:schemeClr val="dk1"/>
                </a:solidFill>
              </a:defRPr>
            </a:lvl1pPr>
            <a:lvl2pPr lvl="1" algn="ctr">
              <a:spcBef>
                <a:spcPts val="500"/>
              </a:spcBef>
              <a:spcAft>
                <a:spcPts val="0"/>
              </a:spcAft>
              <a:buSzPts val="1700"/>
              <a:buNone/>
              <a:defRPr>
                <a:solidFill>
                  <a:srgbClr val="888888"/>
                </a:solidFill>
              </a:defRPr>
            </a:lvl2pPr>
            <a:lvl3pPr lvl="2" algn="ctr">
              <a:spcBef>
                <a:spcPts val="500"/>
              </a:spcBef>
              <a:spcAft>
                <a:spcPts val="0"/>
              </a:spcAft>
              <a:buSzPts val="1600"/>
              <a:buNone/>
              <a:defRPr>
                <a:solidFill>
                  <a:srgbClr val="888888"/>
                </a:solidFill>
              </a:defRPr>
            </a:lvl3pPr>
            <a:lvl4pPr lvl="3" algn="ctr">
              <a:spcBef>
                <a:spcPts val="500"/>
              </a:spcBef>
              <a:spcAft>
                <a:spcPts val="0"/>
              </a:spcAft>
              <a:buSzPts val="1400"/>
              <a:buNone/>
              <a:defRPr>
                <a:solidFill>
                  <a:srgbClr val="888888"/>
                </a:solidFill>
              </a:defRPr>
            </a:lvl4pPr>
            <a:lvl5pPr lvl="4" algn="ctr">
              <a:spcBef>
                <a:spcPts val="500"/>
              </a:spcBef>
              <a:spcAft>
                <a:spcPts val="0"/>
              </a:spcAft>
              <a:buSzPts val="1200"/>
              <a:buNone/>
              <a:defRPr>
                <a:solidFill>
                  <a:srgbClr val="888888"/>
                </a:solidFill>
              </a:defRPr>
            </a:lvl5pPr>
            <a:lvl6pPr lvl="5" algn="ctr">
              <a:spcBef>
                <a:spcPts val="500"/>
              </a:spcBef>
              <a:spcAft>
                <a:spcPts val="0"/>
              </a:spcAft>
              <a:buSzPts val="1200"/>
              <a:buNone/>
              <a:defRPr>
                <a:solidFill>
                  <a:srgbClr val="888888"/>
                </a:solidFill>
              </a:defRPr>
            </a:lvl6pPr>
            <a:lvl7pPr lvl="6" algn="ctr">
              <a:spcBef>
                <a:spcPts val="500"/>
              </a:spcBef>
              <a:spcAft>
                <a:spcPts val="0"/>
              </a:spcAft>
              <a:buSzPts val="1200"/>
              <a:buNone/>
              <a:defRPr>
                <a:solidFill>
                  <a:srgbClr val="888888"/>
                </a:solidFill>
              </a:defRPr>
            </a:lvl7pPr>
            <a:lvl8pPr lvl="7" algn="ctr">
              <a:spcBef>
                <a:spcPts val="500"/>
              </a:spcBef>
              <a:spcAft>
                <a:spcPts val="0"/>
              </a:spcAft>
              <a:buSzPts val="1200"/>
              <a:buNone/>
              <a:defRPr>
                <a:solidFill>
                  <a:srgbClr val="888888"/>
                </a:solidFill>
              </a:defRPr>
            </a:lvl8pPr>
            <a:lvl9pPr lvl="8" algn="ctr">
              <a:spcBef>
                <a:spcPts val="500"/>
              </a:spcBef>
              <a:spcAft>
                <a:spcPts val="500"/>
              </a:spcAft>
              <a:buSzPts val="1200"/>
              <a:buNone/>
              <a:defRPr>
                <a:solidFill>
                  <a:srgbClr val="888888"/>
                </a:solidFill>
              </a:defRPr>
            </a:lvl9pPr>
          </a:lstStyle>
          <a:p/>
        </p:txBody>
      </p:sp>
      <p:sp>
        <p:nvSpPr>
          <p:cNvPr id="65" name="Google Shape;65;p14"/>
          <p:cNvSpPr txBox="1"/>
          <p:nvPr>
            <p:ph idx="10" type="dt"/>
          </p:nvPr>
        </p:nvSpPr>
        <p:spPr>
          <a:xfrm>
            <a:off x="5987653" y="3777853"/>
            <a:ext cx="672703" cy="20955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sz="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4"/>
          <p:cNvSpPr txBox="1"/>
          <p:nvPr>
            <p:ph idx="11" type="ftr"/>
          </p:nvPr>
        </p:nvSpPr>
        <p:spPr>
          <a:xfrm>
            <a:off x="2019300" y="3777853"/>
            <a:ext cx="3911203" cy="20955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4"/>
          <p:cNvSpPr txBox="1"/>
          <p:nvPr>
            <p:ph idx="12" type="sldNum"/>
          </p:nvPr>
        </p:nvSpPr>
        <p:spPr>
          <a:xfrm>
            <a:off x="6717506" y="3777853"/>
            <a:ext cx="413146" cy="20955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1pPr>
            <a:lvl2pPr indent="0" lvl="1"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2pPr>
            <a:lvl3pPr indent="0" lvl="2"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3pPr>
            <a:lvl4pPr indent="0" lvl="3"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4pPr>
            <a:lvl5pPr indent="0" lvl="4"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5pPr>
            <a:lvl6pPr indent="0" lvl="5"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6pPr>
            <a:lvl7pPr indent="0" lvl="6"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7pPr>
            <a:lvl8pPr indent="0" lvl="7"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8pPr>
            <a:lvl9pPr indent="0" lvl="8"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0" name="Shape 80"/>
        <p:cNvGrpSpPr/>
        <p:nvPr/>
      </p:nvGrpSpPr>
      <p:grpSpPr>
        <a:xfrm>
          <a:off x="0" y="0"/>
          <a:ext cx="0" cy="0"/>
          <a:chOff x="0" y="0"/>
          <a:chExt cx="0" cy="0"/>
        </a:xfrm>
      </p:grpSpPr>
      <p:sp>
        <p:nvSpPr>
          <p:cNvPr id="81" name="Google Shape;81;p16"/>
          <p:cNvSpPr txBox="1"/>
          <p:nvPr>
            <p:ph type="title"/>
          </p:nvPr>
        </p:nvSpPr>
        <p:spPr>
          <a:xfrm>
            <a:off x="971550" y="736997"/>
            <a:ext cx="7200900" cy="977503"/>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262626"/>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16"/>
          <p:cNvSpPr txBox="1"/>
          <p:nvPr>
            <p:ph idx="1" type="body"/>
          </p:nvPr>
        </p:nvSpPr>
        <p:spPr>
          <a:xfrm>
            <a:off x="971550" y="1918097"/>
            <a:ext cx="7200900" cy="2488406"/>
          </a:xfrm>
          <a:prstGeom prst="rect">
            <a:avLst/>
          </a:prstGeom>
          <a:noFill/>
          <a:ln>
            <a:noFill/>
          </a:ln>
        </p:spPr>
        <p:txBody>
          <a:bodyPr anchorCtr="0" anchor="t" bIns="34275" lIns="68575" spcFirstLastPara="1" rIns="68575" wrap="square" tIns="34275">
            <a:noAutofit/>
          </a:bodyPr>
          <a:lstStyle>
            <a:lvl1pPr indent="-330200" lvl="0" marL="457200" algn="l">
              <a:spcBef>
                <a:spcPts val="300"/>
              </a:spcBef>
              <a:spcAft>
                <a:spcPts val="0"/>
              </a:spcAft>
              <a:buSzPts val="1600"/>
              <a:buChar char="•"/>
              <a:defRPr/>
            </a:lvl1pPr>
            <a:lvl2pPr indent="-330200" lvl="1" marL="914400" algn="l">
              <a:spcBef>
                <a:spcPts val="500"/>
              </a:spcBef>
              <a:spcAft>
                <a:spcPts val="0"/>
              </a:spcAft>
              <a:buSzPts val="1600"/>
              <a:buChar char="•"/>
              <a:defRPr/>
            </a:lvl2pPr>
            <a:lvl3pPr indent="-330200" lvl="2" marL="1371600" algn="l">
              <a:spcBef>
                <a:spcPts val="500"/>
              </a:spcBef>
              <a:spcAft>
                <a:spcPts val="0"/>
              </a:spcAft>
              <a:buSzPts val="1600"/>
              <a:buChar char="•"/>
              <a:defRPr/>
            </a:lvl3pPr>
            <a:lvl4pPr indent="-330200" lvl="3" marL="1828800" algn="l">
              <a:spcBef>
                <a:spcPts val="500"/>
              </a:spcBef>
              <a:spcAft>
                <a:spcPts val="0"/>
              </a:spcAft>
              <a:buSzPts val="1600"/>
              <a:buChar char="•"/>
              <a:defRPr/>
            </a:lvl4pPr>
            <a:lvl5pPr indent="-330200" lvl="4" marL="2286000" algn="l">
              <a:spcBef>
                <a:spcPts val="500"/>
              </a:spcBef>
              <a:spcAft>
                <a:spcPts val="0"/>
              </a:spcAft>
              <a:buSzPts val="1600"/>
              <a:buChar char="•"/>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83" name="Google Shape;83;p16"/>
          <p:cNvSpPr txBox="1"/>
          <p:nvPr>
            <p:ph idx="10" type="dt"/>
          </p:nvPr>
        </p:nvSpPr>
        <p:spPr>
          <a:xfrm>
            <a:off x="6507956" y="4476750"/>
            <a:ext cx="1200150" cy="20955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sz="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6"/>
          <p:cNvSpPr txBox="1"/>
          <p:nvPr>
            <p:ph idx="11" type="ftr"/>
          </p:nvPr>
        </p:nvSpPr>
        <p:spPr>
          <a:xfrm>
            <a:off x="971550" y="4476750"/>
            <a:ext cx="5479256" cy="20955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16"/>
          <p:cNvSpPr txBox="1"/>
          <p:nvPr>
            <p:ph idx="12" type="sldNum"/>
          </p:nvPr>
        </p:nvSpPr>
        <p:spPr>
          <a:xfrm>
            <a:off x="7765256" y="4476750"/>
            <a:ext cx="407194" cy="20955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1pPr>
            <a:lvl2pPr indent="0" lvl="1"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2pPr>
            <a:lvl3pPr indent="0" lvl="2"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3pPr>
            <a:lvl4pPr indent="0" lvl="3"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4pPr>
            <a:lvl5pPr indent="0" lvl="4"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5pPr>
            <a:lvl6pPr indent="0" lvl="5"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6pPr>
            <a:lvl7pPr indent="0" lvl="6"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7pPr>
            <a:lvl8pPr indent="0" lvl="7"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8pPr>
            <a:lvl9pPr indent="0" lvl="8" marL="0" marR="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4.jpg"/><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slideLayout" Target="../slideLayouts/slideLayout12.xml"/><Relationship Id="rId5"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4.jpg"/><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slideLayout" Target="../slideLayouts/slideLayout13.xml"/><Relationship Id="rId5"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grpSp>
        <p:nvGrpSpPr>
          <p:cNvPr id="51" name="Google Shape;51;p13"/>
          <p:cNvGrpSpPr/>
          <p:nvPr/>
        </p:nvGrpSpPr>
        <p:grpSpPr>
          <a:xfrm>
            <a:off x="-13096" y="0"/>
            <a:ext cx="9173765" cy="5142309"/>
            <a:chOff x="-16934" y="0"/>
            <a:chExt cx="12231160" cy="6856214"/>
          </a:xfrm>
        </p:grpSpPr>
        <p:pic>
          <p:nvPicPr>
            <p:cNvPr descr="HD-PanelTitleR1.png" id="52" name="Google Shape;52;p1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53" name="Google Shape;53;p13"/>
            <p:cNvSpPr/>
            <p:nvPr/>
          </p:nvSpPr>
          <p:spPr>
            <a:xfrm>
              <a:off x="2328332" y="1540931"/>
              <a:ext cx="7543802" cy="3835401"/>
            </a:xfrm>
            <a:prstGeom prst="rect">
              <a:avLst/>
            </a:prstGeom>
            <a:noFill/>
            <a:ln cap="flat" cmpd="sng" w="15875">
              <a:solidFill>
                <a:schemeClr val="accen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DRibbonTitle-UniformTrim.png" id="54" name="Google Shape;54;p13"/>
            <p:cNvPicPr preferRelativeResize="0"/>
            <p:nvPr/>
          </p:nvPicPr>
          <p:blipFill rotWithShape="1">
            <a:blip r:embed="rId3">
              <a:alphaModFix/>
            </a:blip>
            <a:srcRect b="0" l="0" r="0" t="0"/>
            <a:stretch/>
          </p:blipFill>
          <p:spPr>
            <a:xfrm>
              <a:off x="-16934" y="3147609"/>
              <a:ext cx="2478024" cy="612648"/>
            </a:xfrm>
            <a:prstGeom prst="rect">
              <a:avLst/>
            </a:prstGeom>
            <a:noFill/>
            <a:ln>
              <a:noFill/>
            </a:ln>
          </p:spPr>
        </p:pic>
        <p:pic>
          <p:nvPicPr>
            <p:cNvPr descr="HDRibbonTitle-UniformTrim.png" id="55" name="Google Shape;55;p13"/>
            <p:cNvPicPr preferRelativeResize="0"/>
            <p:nvPr/>
          </p:nvPicPr>
          <p:blipFill rotWithShape="1">
            <a:blip r:embed="rId3">
              <a:alphaModFix/>
            </a:blip>
            <a:srcRect b="0" l="0" r="0" t="0"/>
            <a:stretch/>
          </p:blipFill>
          <p:spPr>
            <a:xfrm>
              <a:off x="9736202" y="3147609"/>
              <a:ext cx="2478024" cy="612648"/>
            </a:xfrm>
            <a:prstGeom prst="rect">
              <a:avLst/>
            </a:prstGeom>
            <a:noFill/>
            <a:ln>
              <a:noFill/>
            </a:ln>
          </p:spPr>
        </p:pic>
      </p:grpSp>
      <p:cxnSp>
        <p:nvCxnSpPr>
          <p:cNvPr id="56" name="Google Shape;56;p13"/>
          <p:cNvCxnSpPr/>
          <p:nvPr/>
        </p:nvCxnSpPr>
        <p:spPr>
          <a:xfrm>
            <a:off x="2019300" y="2641997"/>
            <a:ext cx="5111353" cy="0"/>
          </a:xfrm>
          <a:prstGeom prst="straightConnector1">
            <a:avLst/>
          </a:prstGeom>
          <a:noFill/>
          <a:ln cap="flat" cmpd="sng" w="15875">
            <a:solidFill>
              <a:schemeClr val="accent1"/>
            </a:solidFill>
            <a:prstDash val="solid"/>
            <a:miter lim="800000"/>
            <a:headEnd len="med" w="med" type="none"/>
            <a:tailEnd len="med" w="med" type="none"/>
          </a:ln>
        </p:spPr>
      </p:cxnSp>
      <p:sp>
        <p:nvSpPr>
          <p:cNvPr id="57" name="Google Shape;57;p13"/>
          <p:cNvSpPr txBox="1"/>
          <p:nvPr>
            <p:ph type="title"/>
          </p:nvPr>
        </p:nvSpPr>
        <p:spPr>
          <a:xfrm>
            <a:off x="971550" y="736997"/>
            <a:ext cx="7200900" cy="977503"/>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Clr>
                <a:srgbClr val="262626"/>
              </a:buClr>
              <a:buSzPts val="3300"/>
              <a:buFont typeface="Garamond"/>
              <a:buNone/>
              <a:defRPr b="0" i="0" sz="33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100"/>
              <a:buNone/>
              <a:defRPr b="0" i="0" sz="1400" u="none" cap="none" strike="noStrike">
                <a:solidFill>
                  <a:schemeClr val="dk2"/>
                </a:solidFill>
              </a:defRPr>
            </a:lvl2pPr>
            <a:lvl3pPr lvl="2" marR="0" rtl="0" algn="l">
              <a:spcBef>
                <a:spcPts val="0"/>
              </a:spcBef>
              <a:spcAft>
                <a:spcPts val="0"/>
              </a:spcAft>
              <a:buSzPts val="1100"/>
              <a:buNone/>
              <a:defRPr b="0" i="0" sz="1400" u="none" cap="none" strike="noStrike">
                <a:solidFill>
                  <a:schemeClr val="dk2"/>
                </a:solidFill>
              </a:defRPr>
            </a:lvl3pPr>
            <a:lvl4pPr lvl="3" marR="0" rtl="0" algn="l">
              <a:spcBef>
                <a:spcPts val="0"/>
              </a:spcBef>
              <a:spcAft>
                <a:spcPts val="0"/>
              </a:spcAft>
              <a:buSzPts val="1100"/>
              <a:buNone/>
              <a:defRPr b="0" i="0" sz="1400" u="none" cap="none" strike="noStrike">
                <a:solidFill>
                  <a:schemeClr val="dk2"/>
                </a:solidFill>
              </a:defRPr>
            </a:lvl4pPr>
            <a:lvl5pPr lvl="4" marR="0" rtl="0" algn="l">
              <a:spcBef>
                <a:spcPts val="0"/>
              </a:spcBef>
              <a:spcAft>
                <a:spcPts val="0"/>
              </a:spcAft>
              <a:buSzPts val="1100"/>
              <a:buNone/>
              <a:defRPr b="0" i="0" sz="1400" u="none" cap="none" strike="noStrike">
                <a:solidFill>
                  <a:schemeClr val="dk2"/>
                </a:solidFill>
              </a:defRPr>
            </a:lvl5pPr>
            <a:lvl6pPr lvl="5" marR="0" rtl="0" algn="l">
              <a:spcBef>
                <a:spcPts val="0"/>
              </a:spcBef>
              <a:spcAft>
                <a:spcPts val="0"/>
              </a:spcAft>
              <a:buSzPts val="1100"/>
              <a:buNone/>
              <a:defRPr b="0" i="0" sz="1400" u="none" cap="none" strike="noStrike">
                <a:solidFill>
                  <a:schemeClr val="dk2"/>
                </a:solidFill>
              </a:defRPr>
            </a:lvl6pPr>
            <a:lvl7pPr lvl="6" marR="0" rtl="0" algn="l">
              <a:spcBef>
                <a:spcPts val="0"/>
              </a:spcBef>
              <a:spcAft>
                <a:spcPts val="0"/>
              </a:spcAft>
              <a:buSzPts val="1100"/>
              <a:buNone/>
              <a:defRPr b="0" i="0" sz="1400" u="none" cap="none" strike="noStrike">
                <a:solidFill>
                  <a:schemeClr val="dk2"/>
                </a:solidFill>
              </a:defRPr>
            </a:lvl7pPr>
            <a:lvl8pPr lvl="7" marR="0" rtl="0" algn="l">
              <a:spcBef>
                <a:spcPts val="0"/>
              </a:spcBef>
              <a:spcAft>
                <a:spcPts val="0"/>
              </a:spcAft>
              <a:buSzPts val="1100"/>
              <a:buNone/>
              <a:defRPr b="0" i="0" sz="1400" u="none" cap="none" strike="noStrike">
                <a:solidFill>
                  <a:schemeClr val="dk2"/>
                </a:solidFill>
              </a:defRPr>
            </a:lvl8pPr>
            <a:lvl9pPr lvl="8" marR="0" rtl="0" algn="l">
              <a:spcBef>
                <a:spcPts val="0"/>
              </a:spcBef>
              <a:spcAft>
                <a:spcPts val="0"/>
              </a:spcAft>
              <a:buSzPts val="1100"/>
              <a:buNone/>
              <a:defRPr b="0" i="0" sz="1400" u="none" cap="none" strike="noStrike">
                <a:solidFill>
                  <a:schemeClr val="dk2"/>
                </a:solidFill>
              </a:defRPr>
            </a:lvl9pPr>
          </a:lstStyle>
          <a:p/>
        </p:txBody>
      </p:sp>
      <p:sp>
        <p:nvSpPr>
          <p:cNvPr id="58" name="Google Shape;58;p13"/>
          <p:cNvSpPr txBox="1"/>
          <p:nvPr>
            <p:ph idx="1" type="body"/>
          </p:nvPr>
        </p:nvSpPr>
        <p:spPr>
          <a:xfrm>
            <a:off x="971550" y="1918097"/>
            <a:ext cx="7200900" cy="2488406"/>
          </a:xfrm>
          <a:prstGeom prst="rect">
            <a:avLst/>
          </a:prstGeom>
          <a:noFill/>
          <a:ln>
            <a:noFill/>
          </a:ln>
        </p:spPr>
        <p:txBody>
          <a:bodyPr anchorCtr="0" anchor="t" bIns="34275" lIns="68575" spcFirstLastPara="1" rIns="68575" wrap="square" tIns="34275">
            <a:noAutofit/>
          </a:bodyPr>
          <a:lstStyle>
            <a:lvl1pPr indent="-361950" lvl="0" marL="457200" marR="0" rtl="0" algn="l">
              <a:spcBef>
                <a:spcPts val="400"/>
              </a:spcBef>
              <a:spcAft>
                <a:spcPts val="0"/>
              </a:spcAft>
              <a:buClr>
                <a:schemeClr val="accent1"/>
              </a:buClr>
              <a:buSzPts val="2100"/>
              <a:buFont typeface="Arial"/>
              <a:buChar char="•"/>
              <a:defRPr b="0" i="0" sz="1800" u="none" cap="none" strike="noStrike">
                <a:solidFill>
                  <a:srgbClr val="262626"/>
                </a:solidFill>
                <a:latin typeface="Garamond"/>
                <a:ea typeface="Garamond"/>
                <a:cs typeface="Garamond"/>
                <a:sym typeface="Garamond"/>
              </a:defRPr>
            </a:lvl1pPr>
            <a:lvl2pPr indent="-336550" lvl="1" marL="914400" marR="0" rtl="0" algn="l">
              <a:spcBef>
                <a:spcPts val="500"/>
              </a:spcBef>
              <a:spcAft>
                <a:spcPts val="0"/>
              </a:spcAft>
              <a:buClr>
                <a:schemeClr val="accent1"/>
              </a:buClr>
              <a:buSzPts val="1700"/>
              <a:buFont typeface="Arial"/>
              <a:buChar char="•"/>
              <a:defRPr b="0" i="0" sz="1500" u="none" cap="none" strike="noStrike">
                <a:solidFill>
                  <a:srgbClr val="262626"/>
                </a:solidFill>
                <a:latin typeface="Garamond"/>
                <a:ea typeface="Garamond"/>
                <a:cs typeface="Garamond"/>
                <a:sym typeface="Garamond"/>
              </a:defRPr>
            </a:lvl2pPr>
            <a:lvl3pPr indent="-330200" lvl="2" marL="1371600" marR="0" rtl="0" algn="l">
              <a:spcBef>
                <a:spcPts val="500"/>
              </a:spcBef>
              <a:spcAft>
                <a:spcPts val="0"/>
              </a:spcAft>
              <a:buClr>
                <a:schemeClr val="accent1"/>
              </a:buClr>
              <a:buSzPts val="1600"/>
              <a:buFont typeface="Arial"/>
              <a:buChar char="•"/>
              <a:defRPr b="0" i="0" sz="1400" u="none" cap="none" strike="noStrike">
                <a:solidFill>
                  <a:srgbClr val="262626"/>
                </a:solidFill>
                <a:latin typeface="Garamond"/>
                <a:ea typeface="Garamond"/>
                <a:cs typeface="Garamond"/>
                <a:sym typeface="Garamond"/>
              </a:defRPr>
            </a:lvl3pPr>
            <a:lvl4pPr indent="-317500" lvl="3" marL="1828800" marR="0" rtl="0" algn="l">
              <a:spcBef>
                <a:spcPts val="500"/>
              </a:spcBef>
              <a:spcAft>
                <a:spcPts val="0"/>
              </a:spcAft>
              <a:buClr>
                <a:schemeClr val="accent1"/>
              </a:buClr>
              <a:buSzPts val="1400"/>
              <a:buFont typeface="Arial"/>
              <a:buChar char="•"/>
              <a:defRPr b="0" i="0" sz="1200" u="none" cap="none" strike="noStrike">
                <a:solidFill>
                  <a:srgbClr val="262626"/>
                </a:solidFill>
                <a:latin typeface="Garamond"/>
                <a:ea typeface="Garamond"/>
                <a:cs typeface="Garamond"/>
                <a:sym typeface="Garamond"/>
              </a:defRPr>
            </a:lvl4pPr>
            <a:lvl5pPr indent="-304800" lvl="4" marL="22860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5pPr>
            <a:lvl6pPr indent="-304800" lvl="5" marL="27432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6pPr>
            <a:lvl7pPr indent="-304800" lvl="6" marL="32004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7pPr>
            <a:lvl8pPr indent="-304800" lvl="7" marL="36576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8pPr>
            <a:lvl9pPr indent="-304800" lvl="8" marL="4114800" marR="0" rtl="0" algn="l">
              <a:spcBef>
                <a:spcPts val="500"/>
              </a:spcBef>
              <a:spcAft>
                <a:spcPts val="50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9pPr>
          </a:lstStyle>
          <a:p/>
        </p:txBody>
      </p:sp>
      <p:sp>
        <p:nvSpPr>
          <p:cNvPr id="59" name="Google Shape;59;p13"/>
          <p:cNvSpPr txBox="1"/>
          <p:nvPr>
            <p:ph idx="10" type="dt"/>
          </p:nvPr>
        </p:nvSpPr>
        <p:spPr>
          <a:xfrm>
            <a:off x="5987653" y="3777853"/>
            <a:ext cx="672703" cy="209550"/>
          </a:xfrm>
          <a:prstGeom prst="rect">
            <a:avLst/>
          </a:prstGeom>
          <a:noFill/>
          <a:ln>
            <a:noFill/>
          </a:ln>
        </p:spPr>
        <p:txBody>
          <a:bodyPr anchorCtr="0" anchor="ctr" bIns="34275" lIns="68575" spcFirstLastPara="1" rIns="68575" wrap="square" tIns="34275">
            <a:noAutofit/>
          </a:bodyPr>
          <a:lstStyle>
            <a:lvl1pPr lvl="0" marR="0" rtl="0" algn="r">
              <a:lnSpc>
                <a:spcPct val="100000"/>
              </a:lnSpc>
              <a:spcBef>
                <a:spcPts val="0"/>
              </a:spcBef>
              <a:spcAft>
                <a:spcPts val="0"/>
              </a:spcAft>
              <a:buSzPts val="1100"/>
              <a:buNone/>
              <a:defRPr b="0" i="0" sz="800" u="none" cap="none" strike="noStrike">
                <a:solidFill>
                  <a:schemeClr val="dk1"/>
                </a:solidFill>
                <a:latin typeface="Garamond"/>
                <a:ea typeface="Garamond"/>
                <a:cs typeface="Garamond"/>
                <a:sym typeface="Garamond"/>
              </a:defRPr>
            </a:lvl1pPr>
            <a:lvl2pPr lvl="1"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2pPr>
            <a:lvl3pPr lvl="2"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3pPr>
            <a:lvl4pPr lvl="3"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4pPr>
            <a:lvl5pPr lvl="4"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5pPr>
            <a:lvl6pPr lvl="5"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6pPr>
            <a:lvl7pPr lvl="6"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7pPr>
            <a:lvl8pPr lvl="7"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8pPr>
            <a:lvl9pPr lvl="8"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9pPr>
          </a:lstStyle>
          <a:p/>
        </p:txBody>
      </p:sp>
      <p:sp>
        <p:nvSpPr>
          <p:cNvPr id="60" name="Google Shape;60;p13"/>
          <p:cNvSpPr txBox="1"/>
          <p:nvPr>
            <p:ph idx="11" type="ftr"/>
          </p:nvPr>
        </p:nvSpPr>
        <p:spPr>
          <a:xfrm>
            <a:off x="2019300" y="3777853"/>
            <a:ext cx="3911203" cy="20955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1pPr>
            <a:lvl2pPr lvl="1"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2pPr>
            <a:lvl3pPr lvl="2"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3pPr>
            <a:lvl4pPr lvl="3"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4pPr>
            <a:lvl5pPr lvl="4"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5pPr>
            <a:lvl6pPr lvl="5"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6pPr>
            <a:lvl7pPr lvl="6"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7pPr>
            <a:lvl8pPr lvl="7"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8pPr>
            <a:lvl9pPr lvl="8"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9pPr>
          </a:lstStyle>
          <a:p/>
        </p:txBody>
      </p:sp>
      <p:sp>
        <p:nvSpPr>
          <p:cNvPr id="61" name="Google Shape;61;p13"/>
          <p:cNvSpPr txBox="1"/>
          <p:nvPr>
            <p:ph idx="12" type="sldNum"/>
          </p:nvPr>
        </p:nvSpPr>
        <p:spPr>
          <a:xfrm>
            <a:off x="6717506" y="3777853"/>
            <a:ext cx="413146" cy="20955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1pPr>
            <a:lvl2pPr indent="0" lvl="1"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2pPr>
            <a:lvl3pPr indent="0" lvl="2"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3pPr>
            <a:lvl4pPr indent="0" lvl="3"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4pPr>
            <a:lvl5pPr indent="0" lvl="4"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5pPr>
            <a:lvl6pPr indent="0" lvl="5"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6pPr>
            <a:lvl7pPr indent="0" lvl="6"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7pPr>
            <a:lvl8pPr indent="0" lvl="7"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8pPr>
            <a:lvl9pPr indent="0" lvl="8"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
              <a:t>‹#›</a:t>
            </a:fld>
            <a:endParaRPr sz="11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8" name="Shape 68"/>
        <p:cNvGrpSpPr/>
        <p:nvPr/>
      </p:nvGrpSpPr>
      <p:grpSpPr>
        <a:xfrm>
          <a:off x="0" y="0"/>
          <a:ext cx="0" cy="0"/>
          <a:chOff x="0" y="0"/>
          <a:chExt cx="0" cy="0"/>
        </a:xfrm>
      </p:grpSpPr>
      <p:grpSp>
        <p:nvGrpSpPr>
          <p:cNvPr id="69" name="Google Shape;69;p15"/>
          <p:cNvGrpSpPr/>
          <p:nvPr/>
        </p:nvGrpSpPr>
        <p:grpSpPr>
          <a:xfrm>
            <a:off x="-11906" y="0"/>
            <a:ext cx="9172575" cy="5142309"/>
            <a:chOff x="-15736" y="0"/>
            <a:chExt cx="12229962" cy="6856214"/>
          </a:xfrm>
        </p:grpSpPr>
        <p:pic>
          <p:nvPicPr>
            <p:cNvPr descr="HD-PanelContent.png" id="70" name="Google Shape;70;p1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1" name="Google Shape;71;p15"/>
            <p:cNvSpPr/>
            <p:nvPr/>
          </p:nvSpPr>
          <p:spPr>
            <a:xfrm>
              <a:off x="608012" y="609600"/>
              <a:ext cx="10972800" cy="5638800"/>
            </a:xfrm>
            <a:prstGeom prst="rect">
              <a:avLst/>
            </a:prstGeom>
            <a:noFill/>
            <a:ln cap="flat" cmpd="sng" w="15875">
              <a:solidFill>
                <a:schemeClr val="accen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DRibbonContent-UniformTrim.png" id="72" name="Google Shape;72;p15"/>
            <p:cNvPicPr preferRelativeResize="0"/>
            <p:nvPr/>
          </p:nvPicPr>
          <p:blipFill rotWithShape="1">
            <a:blip r:embed="rId3">
              <a:alphaModFix/>
            </a:blip>
            <a:srcRect b="0" l="0" r="0" t="0"/>
            <a:stretch/>
          </p:blipFill>
          <p:spPr>
            <a:xfrm>
              <a:off x="-15736" y="3153832"/>
              <a:ext cx="777240" cy="606425"/>
            </a:xfrm>
            <a:prstGeom prst="rect">
              <a:avLst/>
            </a:prstGeom>
            <a:noFill/>
            <a:ln>
              <a:noFill/>
            </a:ln>
          </p:spPr>
        </p:pic>
        <p:pic>
          <p:nvPicPr>
            <p:cNvPr descr="HDRibbonContent-UniformTrim.png" id="73" name="Google Shape;73;p15"/>
            <p:cNvPicPr preferRelativeResize="0"/>
            <p:nvPr/>
          </p:nvPicPr>
          <p:blipFill rotWithShape="1">
            <a:blip r:embed="rId3">
              <a:alphaModFix/>
            </a:blip>
            <a:srcRect b="0" l="0" r="0" t="0"/>
            <a:stretch/>
          </p:blipFill>
          <p:spPr>
            <a:xfrm>
              <a:off x="11436986" y="3153832"/>
              <a:ext cx="777240" cy="606425"/>
            </a:xfrm>
            <a:prstGeom prst="rect">
              <a:avLst/>
            </a:prstGeom>
            <a:noFill/>
            <a:ln>
              <a:noFill/>
            </a:ln>
          </p:spPr>
        </p:pic>
      </p:grpSp>
      <p:cxnSp>
        <p:nvCxnSpPr>
          <p:cNvPr id="74" name="Google Shape;74;p15"/>
          <p:cNvCxnSpPr/>
          <p:nvPr/>
        </p:nvCxnSpPr>
        <p:spPr>
          <a:xfrm>
            <a:off x="1046559" y="1815703"/>
            <a:ext cx="7055644" cy="0"/>
          </a:xfrm>
          <a:prstGeom prst="straightConnector1">
            <a:avLst/>
          </a:prstGeom>
          <a:noFill/>
          <a:ln cap="flat" cmpd="sng" w="15875">
            <a:solidFill>
              <a:schemeClr val="accent1"/>
            </a:solidFill>
            <a:prstDash val="solid"/>
            <a:miter lim="800000"/>
            <a:headEnd len="med" w="med" type="none"/>
            <a:tailEnd len="med" w="med" type="none"/>
          </a:ln>
        </p:spPr>
      </p:cxnSp>
      <p:sp>
        <p:nvSpPr>
          <p:cNvPr id="75" name="Google Shape;75;p15"/>
          <p:cNvSpPr txBox="1"/>
          <p:nvPr>
            <p:ph type="title"/>
          </p:nvPr>
        </p:nvSpPr>
        <p:spPr>
          <a:xfrm>
            <a:off x="971550" y="736997"/>
            <a:ext cx="7200900" cy="977503"/>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Clr>
                <a:srgbClr val="262626"/>
              </a:buClr>
              <a:buSzPts val="3300"/>
              <a:buFont typeface="Garamond"/>
              <a:buNone/>
              <a:defRPr b="0" i="0" sz="33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100"/>
              <a:buNone/>
              <a:defRPr b="0" i="0" sz="1400" u="none" cap="none" strike="noStrike">
                <a:solidFill>
                  <a:schemeClr val="dk2"/>
                </a:solidFill>
              </a:defRPr>
            </a:lvl2pPr>
            <a:lvl3pPr lvl="2" marR="0" rtl="0" algn="l">
              <a:spcBef>
                <a:spcPts val="0"/>
              </a:spcBef>
              <a:spcAft>
                <a:spcPts val="0"/>
              </a:spcAft>
              <a:buSzPts val="1100"/>
              <a:buNone/>
              <a:defRPr b="0" i="0" sz="1400" u="none" cap="none" strike="noStrike">
                <a:solidFill>
                  <a:schemeClr val="dk2"/>
                </a:solidFill>
              </a:defRPr>
            </a:lvl3pPr>
            <a:lvl4pPr lvl="3" marR="0" rtl="0" algn="l">
              <a:spcBef>
                <a:spcPts val="0"/>
              </a:spcBef>
              <a:spcAft>
                <a:spcPts val="0"/>
              </a:spcAft>
              <a:buSzPts val="1100"/>
              <a:buNone/>
              <a:defRPr b="0" i="0" sz="1400" u="none" cap="none" strike="noStrike">
                <a:solidFill>
                  <a:schemeClr val="dk2"/>
                </a:solidFill>
              </a:defRPr>
            </a:lvl4pPr>
            <a:lvl5pPr lvl="4" marR="0" rtl="0" algn="l">
              <a:spcBef>
                <a:spcPts val="0"/>
              </a:spcBef>
              <a:spcAft>
                <a:spcPts val="0"/>
              </a:spcAft>
              <a:buSzPts val="1100"/>
              <a:buNone/>
              <a:defRPr b="0" i="0" sz="1400" u="none" cap="none" strike="noStrike">
                <a:solidFill>
                  <a:schemeClr val="dk2"/>
                </a:solidFill>
              </a:defRPr>
            </a:lvl5pPr>
            <a:lvl6pPr lvl="5" marR="0" rtl="0" algn="l">
              <a:spcBef>
                <a:spcPts val="0"/>
              </a:spcBef>
              <a:spcAft>
                <a:spcPts val="0"/>
              </a:spcAft>
              <a:buSzPts val="1100"/>
              <a:buNone/>
              <a:defRPr b="0" i="0" sz="1400" u="none" cap="none" strike="noStrike">
                <a:solidFill>
                  <a:schemeClr val="dk2"/>
                </a:solidFill>
              </a:defRPr>
            </a:lvl6pPr>
            <a:lvl7pPr lvl="6" marR="0" rtl="0" algn="l">
              <a:spcBef>
                <a:spcPts val="0"/>
              </a:spcBef>
              <a:spcAft>
                <a:spcPts val="0"/>
              </a:spcAft>
              <a:buSzPts val="1100"/>
              <a:buNone/>
              <a:defRPr b="0" i="0" sz="1400" u="none" cap="none" strike="noStrike">
                <a:solidFill>
                  <a:schemeClr val="dk2"/>
                </a:solidFill>
              </a:defRPr>
            </a:lvl7pPr>
            <a:lvl8pPr lvl="7" marR="0" rtl="0" algn="l">
              <a:spcBef>
                <a:spcPts val="0"/>
              </a:spcBef>
              <a:spcAft>
                <a:spcPts val="0"/>
              </a:spcAft>
              <a:buSzPts val="1100"/>
              <a:buNone/>
              <a:defRPr b="0" i="0" sz="1400" u="none" cap="none" strike="noStrike">
                <a:solidFill>
                  <a:schemeClr val="dk2"/>
                </a:solidFill>
              </a:defRPr>
            </a:lvl8pPr>
            <a:lvl9pPr lvl="8" marR="0" rtl="0" algn="l">
              <a:spcBef>
                <a:spcPts val="0"/>
              </a:spcBef>
              <a:spcAft>
                <a:spcPts val="0"/>
              </a:spcAft>
              <a:buSzPts val="1100"/>
              <a:buNone/>
              <a:defRPr b="0" i="0" sz="1400" u="none" cap="none" strike="noStrike">
                <a:solidFill>
                  <a:schemeClr val="dk2"/>
                </a:solidFill>
              </a:defRPr>
            </a:lvl9pPr>
          </a:lstStyle>
          <a:p/>
        </p:txBody>
      </p:sp>
      <p:sp>
        <p:nvSpPr>
          <p:cNvPr id="76" name="Google Shape;76;p15"/>
          <p:cNvSpPr txBox="1"/>
          <p:nvPr>
            <p:ph idx="1" type="body"/>
          </p:nvPr>
        </p:nvSpPr>
        <p:spPr>
          <a:xfrm>
            <a:off x="971550" y="1918097"/>
            <a:ext cx="7200900" cy="2488406"/>
          </a:xfrm>
          <a:prstGeom prst="rect">
            <a:avLst/>
          </a:prstGeom>
          <a:noFill/>
          <a:ln>
            <a:noFill/>
          </a:ln>
        </p:spPr>
        <p:txBody>
          <a:bodyPr anchorCtr="0" anchor="t" bIns="34275" lIns="68575" spcFirstLastPara="1" rIns="68575" wrap="square" tIns="34275">
            <a:noAutofit/>
          </a:bodyPr>
          <a:lstStyle>
            <a:lvl1pPr indent="-361950" lvl="0" marL="457200" marR="0" rtl="0" algn="l">
              <a:spcBef>
                <a:spcPts val="400"/>
              </a:spcBef>
              <a:spcAft>
                <a:spcPts val="0"/>
              </a:spcAft>
              <a:buClr>
                <a:schemeClr val="accent1"/>
              </a:buClr>
              <a:buSzPts val="2100"/>
              <a:buFont typeface="Arial"/>
              <a:buChar char="•"/>
              <a:defRPr b="0" i="0" sz="1800" u="none" cap="none" strike="noStrike">
                <a:solidFill>
                  <a:srgbClr val="262626"/>
                </a:solidFill>
                <a:latin typeface="Garamond"/>
                <a:ea typeface="Garamond"/>
                <a:cs typeface="Garamond"/>
                <a:sym typeface="Garamond"/>
              </a:defRPr>
            </a:lvl1pPr>
            <a:lvl2pPr indent="-336550" lvl="1" marL="914400" marR="0" rtl="0" algn="l">
              <a:spcBef>
                <a:spcPts val="500"/>
              </a:spcBef>
              <a:spcAft>
                <a:spcPts val="0"/>
              </a:spcAft>
              <a:buClr>
                <a:schemeClr val="accent1"/>
              </a:buClr>
              <a:buSzPts val="1700"/>
              <a:buFont typeface="Arial"/>
              <a:buChar char="•"/>
              <a:defRPr b="0" i="0" sz="1500" u="none" cap="none" strike="noStrike">
                <a:solidFill>
                  <a:srgbClr val="262626"/>
                </a:solidFill>
                <a:latin typeface="Garamond"/>
                <a:ea typeface="Garamond"/>
                <a:cs typeface="Garamond"/>
                <a:sym typeface="Garamond"/>
              </a:defRPr>
            </a:lvl2pPr>
            <a:lvl3pPr indent="-330200" lvl="2" marL="1371600" marR="0" rtl="0" algn="l">
              <a:spcBef>
                <a:spcPts val="500"/>
              </a:spcBef>
              <a:spcAft>
                <a:spcPts val="0"/>
              </a:spcAft>
              <a:buClr>
                <a:schemeClr val="accent1"/>
              </a:buClr>
              <a:buSzPts val="1600"/>
              <a:buFont typeface="Arial"/>
              <a:buChar char="•"/>
              <a:defRPr b="0" i="0" sz="1400" u="none" cap="none" strike="noStrike">
                <a:solidFill>
                  <a:srgbClr val="262626"/>
                </a:solidFill>
                <a:latin typeface="Garamond"/>
                <a:ea typeface="Garamond"/>
                <a:cs typeface="Garamond"/>
                <a:sym typeface="Garamond"/>
              </a:defRPr>
            </a:lvl3pPr>
            <a:lvl4pPr indent="-317500" lvl="3" marL="1828800" marR="0" rtl="0" algn="l">
              <a:spcBef>
                <a:spcPts val="500"/>
              </a:spcBef>
              <a:spcAft>
                <a:spcPts val="0"/>
              </a:spcAft>
              <a:buClr>
                <a:schemeClr val="accent1"/>
              </a:buClr>
              <a:buSzPts val="1400"/>
              <a:buFont typeface="Arial"/>
              <a:buChar char="•"/>
              <a:defRPr b="0" i="0" sz="1200" u="none" cap="none" strike="noStrike">
                <a:solidFill>
                  <a:srgbClr val="262626"/>
                </a:solidFill>
                <a:latin typeface="Garamond"/>
                <a:ea typeface="Garamond"/>
                <a:cs typeface="Garamond"/>
                <a:sym typeface="Garamond"/>
              </a:defRPr>
            </a:lvl4pPr>
            <a:lvl5pPr indent="-304800" lvl="4" marL="22860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5pPr>
            <a:lvl6pPr indent="-304800" lvl="5" marL="27432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6pPr>
            <a:lvl7pPr indent="-304800" lvl="6" marL="32004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7pPr>
            <a:lvl8pPr indent="-304800" lvl="7" marL="36576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8pPr>
            <a:lvl9pPr indent="-304800" lvl="8" marL="4114800" marR="0" rtl="0" algn="l">
              <a:spcBef>
                <a:spcPts val="500"/>
              </a:spcBef>
              <a:spcAft>
                <a:spcPts val="50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9pPr>
          </a:lstStyle>
          <a:p/>
        </p:txBody>
      </p:sp>
      <p:sp>
        <p:nvSpPr>
          <p:cNvPr id="77" name="Google Shape;77;p15"/>
          <p:cNvSpPr txBox="1"/>
          <p:nvPr>
            <p:ph idx="10" type="dt"/>
          </p:nvPr>
        </p:nvSpPr>
        <p:spPr>
          <a:xfrm>
            <a:off x="6507956" y="4476750"/>
            <a:ext cx="1200150" cy="209550"/>
          </a:xfrm>
          <a:prstGeom prst="rect">
            <a:avLst/>
          </a:prstGeom>
          <a:noFill/>
          <a:ln>
            <a:noFill/>
          </a:ln>
        </p:spPr>
        <p:txBody>
          <a:bodyPr anchorCtr="0" anchor="ctr" bIns="34275" lIns="68575" spcFirstLastPara="1" rIns="68575" wrap="square" tIns="34275">
            <a:noAutofit/>
          </a:bodyPr>
          <a:lstStyle>
            <a:lvl1pPr lvl="0" marR="0" rtl="0" algn="r">
              <a:lnSpc>
                <a:spcPct val="100000"/>
              </a:lnSpc>
              <a:spcBef>
                <a:spcPts val="0"/>
              </a:spcBef>
              <a:spcAft>
                <a:spcPts val="0"/>
              </a:spcAft>
              <a:buSzPts val="1100"/>
              <a:buNone/>
              <a:defRPr b="0" i="0" sz="800" u="none" cap="none" strike="noStrike">
                <a:solidFill>
                  <a:schemeClr val="dk1"/>
                </a:solidFill>
                <a:latin typeface="Garamond"/>
                <a:ea typeface="Garamond"/>
                <a:cs typeface="Garamond"/>
                <a:sym typeface="Garamond"/>
              </a:defRPr>
            </a:lvl1pPr>
            <a:lvl2pPr lvl="1"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2pPr>
            <a:lvl3pPr lvl="2"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3pPr>
            <a:lvl4pPr lvl="3"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4pPr>
            <a:lvl5pPr lvl="4"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5pPr>
            <a:lvl6pPr lvl="5"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6pPr>
            <a:lvl7pPr lvl="6"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7pPr>
            <a:lvl8pPr lvl="7"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8pPr>
            <a:lvl9pPr lvl="8"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9pPr>
          </a:lstStyle>
          <a:p/>
        </p:txBody>
      </p:sp>
      <p:sp>
        <p:nvSpPr>
          <p:cNvPr id="78" name="Google Shape;78;p15"/>
          <p:cNvSpPr txBox="1"/>
          <p:nvPr>
            <p:ph idx="11" type="ftr"/>
          </p:nvPr>
        </p:nvSpPr>
        <p:spPr>
          <a:xfrm>
            <a:off x="971550" y="4476750"/>
            <a:ext cx="5479256" cy="20955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1pPr>
            <a:lvl2pPr lvl="1"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2pPr>
            <a:lvl3pPr lvl="2"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3pPr>
            <a:lvl4pPr lvl="3"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4pPr>
            <a:lvl5pPr lvl="4"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5pPr>
            <a:lvl6pPr lvl="5"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6pPr>
            <a:lvl7pPr lvl="6"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7pPr>
            <a:lvl8pPr lvl="7"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8pPr>
            <a:lvl9pPr lvl="8" marR="0" rtl="0" algn="l">
              <a:lnSpc>
                <a:spcPct val="100000"/>
              </a:lnSpc>
              <a:spcBef>
                <a:spcPts val="0"/>
              </a:spcBef>
              <a:spcAft>
                <a:spcPts val="0"/>
              </a:spcAft>
              <a:buSzPts val="1100"/>
              <a:buNone/>
              <a:defRPr b="0" i="0" sz="1400" u="none" cap="none" strike="noStrike">
                <a:solidFill>
                  <a:schemeClr val="dk1"/>
                </a:solidFill>
                <a:latin typeface="Garamond"/>
                <a:ea typeface="Garamond"/>
                <a:cs typeface="Garamond"/>
                <a:sym typeface="Garamond"/>
              </a:defRPr>
            </a:lvl9pPr>
          </a:lstStyle>
          <a:p/>
        </p:txBody>
      </p:sp>
      <p:sp>
        <p:nvSpPr>
          <p:cNvPr id="79" name="Google Shape;79;p15"/>
          <p:cNvSpPr txBox="1"/>
          <p:nvPr>
            <p:ph idx="12" type="sldNum"/>
          </p:nvPr>
        </p:nvSpPr>
        <p:spPr>
          <a:xfrm>
            <a:off x="7765256" y="4476750"/>
            <a:ext cx="407194" cy="20955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1pPr>
            <a:lvl2pPr indent="0" lvl="1"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2pPr>
            <a:lvl3pPr indent="0" lvl="2"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3pPr>
            <a:lvl4pPr indent="0" lvl="3"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4pPr>
            <a:lvl5pPr indent="0" lvl="4"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5pPr>
            <a:lvl6pPr indent="0" lvl="5"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6pPr>
            <a:lvl7pPr indent="0" lvl="6"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7pPr>
            <a:lvl8pPr indent="0" lvl="7"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8pPr>
            <a:lvl9pPr indent="0" lvl="8" marL="0" marR="0" rtl="0" algn="r">
              <a:lnSpc>
                <a:spcPct val="100000"/>
              </a:lnSpc>
              <a:spcBef>
                <a:spcPts val="0"/>
              </a:spcBef>
              <a:spcAft>
                <a:spcPts val="0"/>
              </a:spcAft>
              <a:buClr>
                <a:schemeClr val="dk1"/>
              </a:buClr>
              <a:buSzPts val="800"/>
              <a:buFont typeface="Garamond"/>
              <a:buNone/>
              <a:defRPr b="0" i="0" sz="8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
              <a:t>‹#›</a:t>
            </a:fld>
            <a:endParaRPr sz="11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0"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ctrTitle"/>
          </p:nvPr>
        </p:nvSpPr>
        <p:spPr>
          <a:xfrm>
            <a:off x="1284625" y="1182338"/>
            <a:ext cx="6873600" cy="1821600"/>
          </a:xfrm>
          <a:prstGeom prst="rect">
            <a:avLst/>
          </a:prstGeom>
          <a:noFill/>
          <a:ln>
            <a:noFill/>
          </a:ln>
        </p:spPr>
        <p:txBody>
          <a:bodyPr anchorCtr="0" anchor="b" bIns="34275" lIns="68575" spcFirstLastPara="1" rIns="68575" wrap="square" tIns="34275">
            <a:normAutofit fontScale="90000"/>
          </a:bodyPr>
          <a:lstStyle/>
          <a:p>
            <a:pPr indent="0" lvl="0" marL="0" rtl="0" algn="ctr">
              <a:lnSpc>
                <a:spcPct val="100000"/>
              </a:lnSpc>
              <a:spcBef>
                <a:spcPts val="0"/>
              </a:spcBef>
              <a:spcAft>
                <a:spcPts val="0"/>
              </a:spcAft>
              <a:buClr>
                <a:srgbClr val="262626"/>
              </a:buClr>
              <a:buSzPct val="100000"/>
              <a:buFont typeface="Garamond"/>
              <a:buNone/>
            </a:pPr>
            <a:r>
              <a:rPr b="0" i="0" lang="en" sz="3000" u="none">
                <a:solidFill>
                  <a:srgbClr val="262626"/>
                </a:solidFill>
                <a:latin typeface="Garamond"/>
                <a:ea typeface="Garamond"/>
                <a:cs typeface="Garamond"/>
                <a:sym typeface="Garamond"/>
              </a:rPr>
              <a:t>Hardware Sudoku Solver with AC-3 Constraint Propagation, MRV-Guided Backtracking, and VGA Display on Basys3 FPGA</a:t>
            </a:r>
            <a:br>
              <a:rPr b="0" i="0" lang="en" sz="3000" u="none">
                <a:solidFill>
                  <a:srgbClr val="000000"/>
                </a:solidFill>
                <a:latin typeface="Calibri"/>
                <a:ea typeface="Calibri"/>
                <a:cs typeface="Calibri"/>
                <a:sym typeface="Calibri"/>
              </a:rPr>
            </a:br>
            <a:endParaRPr/>
          </a:p>
        </p:txBody>
      </p:sp>
      <p:sp>
        <p:nvSpPr>
          <p:cNvPr id="91" name="Google Shape;91;p17"/>
          <p:cNvSpPr txBox="1"/>
          <p:nvPr>
            <p:ph idx="1" type="subTitle"/>
          </p:nvPr>
        </p:nvSpPr>
        <p:spPr>
          <a:xfrm>
            <a:off x="1943100" y="3003947"/>
            <a:ext cx="4949428" cy="1643063"/>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SzPts val="1800"/>
              <a:buNone/>
            </a:pPr>
            <a:r>
              <a:rPr b="0" i="0" lang="en" sz="1600" u="none">
                <a:solidFill>
                  <a:schemeClr val="dk1"/>
                </a:solidFill>
                <a:latin typeface="Garamond"/>
                <a:ea typeface="Garamond"/>
                <a:cs typeface="Garamond"/>
                <a:sym typeface="Garamond"/>
              </a:rPr>
              <a:t>Team Members:</a:t>
            </a:r>
            <a:endParaRPr/>
          </a:p>
          <a:p>
            <a:pPr indent="-114300" lvl="0" marL="0" rtl="0" algn="ctr">
              <a:lnSpc>
                <a:spcPct val="90000"/>
              </a:lnSpc>
              <a:spcBef>
                <a:spcPts val="800"/>
              </a:spcBef>
              <a:spcAft>
                <a:spcPts val="0"/>
              </a:spcAft>
              <a:buClr>
                <a:schemeClr val="accent1"/>
              </a:buClr>
              <a:buSzPts val="1800"/>
              <a:buFont typeface="Garamond"/>
              <a:buAutoNum type="arabicPeriod"/>
            </a:pPr>
            <a:r>
              <a:rPr b="0" i="0" lang="en" sz="1600" u="none">
                <a:solidFill>
                  <a:schemeClr val="dk1"/>
                </a:solidFill>
                <a:latin typeface="Garamond"/>
                <a:ea typeface="Garamond"/>
                <a:cs typeface="Garamond"/>
                <a:sym typeface="Garamond"/>
              </a:rPr>
              <a:t>Karney Jayanath (SR No:26831 )   MTECH EPD</a:t>
            </a:r>
            <a:endParaRPr/>
          </a:p>
          <a:p>
            <a:pPr indent="-114300" lvl="0" marL="0" rtl="0" algn="ctr">
              <a:lnSpc>
                <a:spcPct val="90000"/>
              </a:lnSpc>
              <a:spcBef>
                <a:spcPts val="800"/>
              </a:spcBef>
              <a:spcAft>
                <a:spcPts val="0"/>
              </a:spcAft>
              <a:buClr>
                <a:schemeClr val="accent1"/>
              </a:buClr>
              <a:buSzPts val="1800"/>
              <a:buFont typeface="Garamond"/>
              <a:buAutoNum type="arabicPeriod"/>
            </a:pPr>
            <a:r>
              <a:rPr b="0" i="0" lang="en" sz="1600" u="none">
                <a:solidFill>
                  <a:schemeClr val="dk1"/>
                </a:solidFill>
                <a:latin typeface="Garamond"/>
                <a:ea typeface="Garamond"/>
                <a:cs typeface="Garamond"/>
                <a:sym typeface="Garamond"/>
              </a:rPr>
              <a:t>Madhumitha Ramaswamy (SR No: 26973) PhD</a:t>
            </a:r>
            <a:endParaRPr/>
          </a:p>
          <a:p>
            <a:pPr indent="0" lvl="0" marL="0" rtl="0" algn="ctr">
              <a:lnSpc>
                <a:spcPct val="90000"/>
              </a:lnSpc>
              <a:spcBef>
                <a:spcPts val="800"/>
              </a:spcBef>
              <a:spcAft>
                <a:spcPts val="0"/>
              </a:spcAft>
              <a:buSzPts val="1800"/>
              <a:buNone/>
            </a:pPr>
            <a:r>
              <a:rPr b="0" i="0" lang="en" sz="1600" u="none">
                <a:solidFill>
                  <a:schemeClr val="dk1"/>
                </a:solidFill>
                <a:latin typeface="Garamond"/>
                <a:ea typeface="Garamond"/>
                <a:cs typeface="Garamond"/>
                <a:sym typeface="Garamond"/>
              </a:rPr>
              <a:t> </a:t>
            </a:r>
            <a:endParaRPr/>
          </a:p>
          <a:p>
            <a:pPr indent="0" lvl="0" marL="0" rtl="0" algn="ctr">
              <a:lnSpc>
                <a:spcPct val="90000"/>
              </a:lnSpc>
              <a:spcBef>
                <a:spcPts val="800"/>
              </a:spcBef>
              <a:spcAft>
                <a:spcPts val="0"/>
              </a:spcAft>
              <a:buSzPts val="1800"/>
              <a:buNone/>
            </a:pPr>
            <a:r>
              <a:rPr b="0" i="0" lang="en" sz="1600" u="none">
                <a:solidFill>
                  <a:schemeClr val="dk1"/>
                </a:solidFill>
                <a:latin typeface="Garamond"/>
                <a:ea typeface="Garamond"/>
                <a:cs typeface="Garamond"/>
                <a:sym typeface="Garamond"/>
              </a:rPr>
              <a:t>Course faculty: Prof. Debayan Das</a:t>
            </a:r>
            <a:endParaRPr/>
          </a:p>
        </p:txBody>
      </p:sp>
      <p:sp>
        <p:nvSpPr>
          <p:cNvPr id="92" name="Google Shape;92;p17"/>
          <p:cNvSpPr txBox="1"/>
          <p:nvPr/>
        </p:nvSpPr>
        <p:spPr>
          <a:xfrm>
            <a:off x="2395538" y="319088"/>
            <a:ext cx="4651772" cy="622697"/>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dk1"/>
              </a:buClr>
              <a:buSzPts val="1800"/>
              <a:buFont typeface="Garamond"/>
              <a:buNone/>
            </a:pPr>
            <a:r>
              <a:rPr b="0" i="0" lang="en" sz="1800" u="none" cap="none" strike="noStrike">
                <a:solidFill>
                  <a:schemeClr val="dk1"/>
                </a:solidFill>
                <a:latin typeface="Garamond"/>
                <a:ea typeface="Garamond"/>
                <a:cs typeface="Garamond"/>
                <a:sym typeface="Garamond"/>
              </a:rPr>
              <a:t>Course Project of Digital System Design with FPGA (E3 231) on:</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2088356" y="300038"/>
            <a:ext cx="5281613" cy="6858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rgbClr val="262626"/>
              </a:buClr>
              <a:buSzPts val="3300"/>
              <a:buFont typeface="Garamond"/>
              <a:buNone/>
            </a:pPr>
            <a:r>
              <a:rPr b="0" i="0" lang="en" sz="3300" u="none">
                <a:solidFill>
                  <a:srgbClr val="262626"/>
                </a:solidFill>
                <a:latin typeface="Garamond"/>
                <a:ea typeface="Garamond"/>
                <a:cs typeface="Garamond"/>
                <a:sym typeface="Garamond"/>
              </a:rPr>
              <a:t>INTRODUCTION</a:t>
            </a:r>
            <a:endParaRPr/>
          </a:p>
        </p:txBody>
      </p:sp>
      <p:sp>
        <p:nvSpPr>
          <p:cNvPr id="98" name="Google Shape;98;p18"/>
          <p:cNvSpPr txBox="1"/>
          <p:nvPr>
            <p:ph idx="1" type="body"/>
          </p:nvPr>
        </p:nvSpPr>
        <p:spPr>
          <a:xfrm>
            <a:off x="478600" y="1101751"/>
            <a:ext cx="7886700" cy="1470000"/>
          </a:xfrm>
          <a:prstGeom prst="rect">
            <a:avLst/>
          </a:prstGeom>
          <a:noFill/>
          <a:ln>
            <a:noFill/>
          </a:ln>
        </p:spPr>
        <p:txBody>
          <a:bodyPr anchorCtr="0" anchor="t" bIns="34275" lIns="68575" spcFirstLastPara="1" rIns="68575" wrap="square" tIns="34275">
            <a:noAutofit/>
          </a:bodyPr>
          <a:lstStyle/>
          <a:p>
            <a:pPr indent="-215900" lvl="0" marL="215900" marR="0" rtl="0" algn="l">
              <a:lnSpc>
                <a:spcPct val="100000"/>
              </a:lnSpc>
              <a:spcBef>
                <a:spcPts val="0"/>
              </a:spcBef>
              <a:spcAft>
                <a:spcPts val="0"/>
              </a:spcAft>
              <a:buClr>
                <a:schemeClr val="accent1"/>
              </a:buClr>
              <a:buSzPts val="1600"/>
              <a:buFont typeface="Arial"/>
              <a:buChar char="•"/>
            </a:pPr>
            <a:r>
              <a:rPr b="0" i="0" lang="en" sz="1400" u="none" cap="none" strike="noStrike">
                <a:solidFill>
                  <a:srgbClr val="262626"/>
                </a:solidFill>
                <a:latin typeface="Garamond"/>
                <a:ea typeface="Garamond"/>
                <a:cs typeface="Garamond"/>
                <a:sym typeface="Garamond"/>
              </a:rPr>
              <a:t>Sudoku is a logic-based, combinatorial number-placement puzzle played on a  grid, divided into nine sub grids. The goal is to fill the grid so every row, column, and  box contains digits  without repetition. It requires deductive reasoning, not mathematical calculation, to solve.</a:t>
            </a:r>
            <a:endParaRPr/>
          </a:p>
          <a:p>
            <a:pPr indent="-215900" lvl="0" marL="215900" marR="0" rtl="0" algn="l">
              <a:lnSpc>
                <a:spcPct val="100000"/>
              </a:lnSpc>
              <a:spcBef>
                <a:spcPts val="700"/>
              </a:spcBef>
              <a:spcAft>
                <a:spcPts val="0"/>
              </a:spcAft>
              <a:buClr>
                <a:schemeClr val="accent1"/>
              </a:buClr>
              <a:buSzPts val="1600"/>
              <a:buFont typeface="Arial"/>
              <a:buChar char="•"/>
            </a:pPr>
            <a:r>
              <a:rPr b="0" i="0" lang="en" sz="1400" u="none" cap="none" strike="noStrike">
                <a:solidFill>
                  <a:srgbClr val="262626"/>
                </a:solidFill>
                <a:latin typeface="Garamond"/>
                <a:ea typeface="Garamond"/>
                <a:cs typeface="Garamond"/>
                <a:sym typeface="Garamond"/>
              </a:rPr>
              <a:t>A </a:t>
            </a:r>
            <a:r>
              <a:rPr b="1" i="0" lang="en" sz="1400" u="none" cap="none" strike="noStrike">
                <a:solidFill>
                  <a:srgbClr val="262626"/>
                </a:solidFill>
                <a:latin typeface="Garamond"/>
                <a:ea typeface="Garamond"/>
                <a:cs typeface="Garamond"/>
                <a:sym typeface="Garamond"/>
              </a:rPr>
              <a:t>Binary Constraint Satisfaction Problem (CSP)</a:t>
            </a:r>
            <a:r>
              <a:rPr b="0" i="0" lang="en" sz="1400" u="none" cap="none" strike="noStrike">
                <a:solidFill>
                  <a:srgbClr val="262626"/>
                </a:solidFill>
                <a:latin typeface="Garamond"/>
                <a:ea typeface="Garamond"/>
                <a:cs typeface="Garamond"/>
                <a:sym typeface="Garamond"/>
              </a:rPr>
              <a:t> is a mathematical framework used to solve puzzles or scheduling issues where you need to find a valid state that satisfies a strict set of rules.  Suduko is a well known BCSP </a:t>
            </a:r>
            <a:endParaRPr/>
          </a:p>
        </p:txBody>
      </p:sp>
      <p:sp>
        <p:nvSpPr>
          <p:cNvPr id="99" name="Google Shape;99;p18"/>
          <p:cNvSpPr txBox="1"/>
          <p:nvPr/>
        </p:nvSpPr>
        <p:spPr>
          <a:xfrm>
            <a:off x="624950" y="2687650"/>
            <a:ext cx="5384100" cy="1470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800"/>
              <a:buFont typeface="Garamond"/>
              <a:buNone/>
            </a:pPr>
            <a:r>
              <a:rPr b="1" i="0" lang="en" sz="1800" u="none" cap="none" strike="noStrike">
                <a:solidFill>
                  <a:schemeClr val="dk1"/>
                </a:solidFill>
                <a:latin typeface="Garamond"/>
                <a:ea typeface="Garamond"/>
                <a:cs typeface="Garamond"/>
                <a:sym typeface="Garamond"/>
              </a:rPr>
              <a:t>Motivation</a:t>
            </a:r>
            <a:endParaRPr b="1" i="0" sz="1800" u="none" cap="none" strike="noStrike">
              <a:solidFill>
                <a:schemeClr val="dk1"/>
              </a:solidFill>
              <a:latin typeface="Garamond"/>
              <a:ea typeface="Garamond"/>
              <a:cs typeface="Garamond"/>
              <a:sym typeface="Garamond"/>
            </a:endParaRPr>
          </a:p>
          <a:p>
            <a:pPr indent="-76200" lvl="0" marL="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Garamond"/>
                <a:ea typeface="Garamond"/>
                <a:cs typeface="Garamond"/>
                <a:sym typeface="Garamond"/>
              </a:rPr>
              <a:t>Traditional Sudoku solvers based on pure backtracking explore a large exponential search space, making them inefficient for difficult puzzles.</a:t>
            </a:r>
            <a:endParaRPr sz="1100"/>
          </a:p>
          <a:p>
            <a:pPr indent="-76200" lvl="0" marL="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Garamond"/>
                <a:ea typeface="Garamond"/>
                <a:cs typeface="Garamond"/>
                <a:sym typeface="Garamond"/>
              </a:rPr>
              <a:t>Hard puzzles such as AI Escargot by Arto Inkala</a:t>
            </a:r>
            <a:r>
              <a:rPr b="0" i="0" lang="en" sz="1200" u="none" cap="none" strike="noStrike">
                <a:solidFill>
                  <a:schemeClr val="dk1"/>
                </a:solidFill>
                <a:latin typeface="Garamond"/>
                <a:ea typeface="Garamond"/>
                <a:cs typeface="Garamond"/>
                <a:sym typeface="Garamond"/>
              </a:rPr>
              <a:t> </a:t>
            </a:r>
            <a:r>
              <a:rPr b="0" i="0" lang="en" sz="1200" u="none" cap="none" strike="noStrike">
                <a:solidFill>
                  <a:schemeClr val="dk1"/>
                </a:solidFill>
                <a:latin typeface="Garamond"/>
                <a:ea typeface="Garamond"/>
                <a:cs typeface="Garamond"/>
                <a:sym typeface="Garamond"/>
              </a:rPr>
              <a:t>require deep search</a:t>
            </a:r>
            <a:endParaRPr sz="1100"/>
          </a:p>
          <a:p>
            <a:pPr indent="0" lvl="0" marL="0" marR="0" rtl="0" algn="l">
              <a:lnSpc>
                <a:spcPct val="100000"/>
              </a:lnSpc>
              <a:spcBef>
                <a:spcPts val="0"/>
              </a:spcBef>
              <a:spcAft>
                <a:spcPts val="0"/>
              </a:spcAft>
              <a:buClr>
                <a:schemeClr val="dk1"/>
              </a:buClr>
              <a:buSzPts val="1200"/>
              <a:buFont typeface="Garamond"/>
              <a:buNone/>
            </a:pPr>
            <a:br>
              <a:rPr b="1" i="0" lang="en" sz="1200" u="none" cap="none" strike="noStrike">
                <a:solidFill>
                  <a:schemeClr val="dk1"/>
                </a:solidFill>
                <a:latin typeface="Garamond"/>
                <a:ea typeface="Garamond"/>
                <a:cs typeface="Garamond"/>
                <a:sym typeface="Garamond"/>
              </a:rPr>
            </a:br>
            <a:br>
              <a:rPr b="0" i="0" lang="en" sz="1400" u="none" cap="none" strike="noStrike">
                <a:solidFill>
                  <a:schemeClr val="dk1"/>
                </a:solidFill>
                <a:latin typeface="Garamond"/>
                <a:ea typeface="Garamond"/>
                <a:cs typeface="Garamond"/>
                <a:sym typeface="Garamond"/>
              </a:rPr>
            </a:br>
            <a:endParaRPr sz="1100"/>
          </a:p>
        </p:txBody>
      </p:sp>
      <p:sp>
        <p:nvSpPr>
          <p:cNvPr id="100" name="Google Shape;100;p18"/>
          <p:cNvSpPr txBox="1"/>
          <p:nvPr/>
        </p:nvSpPr>
        <p:spPr>
          <a:xfrm>
            <a:off x="478600" y="3572125"/>
            <a:ext cx="53769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62626"/>
                </a:solidFill>
                <a:latin typeface="Garamond"/>
                <a:ea typeface="Garamond"/>
                <a:cs typeface="Garamond"/>
                <a:sym typeface="Garamond"/>
              </a:rPr>
              <a:t>Overall complexity becomes O(P + d^E), significantly lower than O(9^E), where d&lt;9</a:t>
            </a:r>
            <a:br>
              <a:rPr lang="en" sz="1800">
                <a:solidFill>
                  <a:srgbClr val="262626"/>
                </a:solidFill>
                <a:latin typeface="Garamond"/>
                <a:ea typeface="Garamond"/>
                <a:cs typeface="Garamond"/>
                <a:sym typeface="Garamond"/>
              </a:rPr>
            </a:br>
            <a:r>
              <a:rPr lang="en" sz="1800">
                <a:solidFill>
                  <a:srgbClr val="262626"/>
                </a:solidFill>
                <a:latin typeface="Garamond"/>
                <a:ea typeface="Garamond"/>
                <a:cs typeface="Garamond"/>
                <a:sym typeface="Garamond"/>
              </a:rPr>
              <a:t>Where E is the number of Empty cells, P is the number of AC3 passes</a:t>
            </a:r>
            <a:endParaRPr sz="1800">
              <a:solidFill>
                <a:srgbClr val="262626"/>
              </a:solidFill>
              <a:latin typeface="Garamond"/>
              <a:ea typeface="Garamond"/>
              <a:cs typeface="Garamond"/>
              <a:sym typeface="Garamond"/>
            </a:endParaRPr>
          </a:p>
        </p:txBody>
      </p:sp>
      <p:pic>
        <p:nvPicPr>
          <p:cNvPr id="101" name="Google Shape;101;p18"/>
          <p:cNvPicPr preferRelativeResize="0"/>
          <p:nvPr/>
        </p:nvPicPr>
        <p:blipFill>
          <a:blip r:embed="rId3">
            <a:alphaModFix/>
          </a:blip>
          <a:stretch>
            <a:fillRect/>
          </a:stretch>
        </p:blipFill>
        <p:spPr>
          <a:xfrm>
            <a:off x="6170775" y="2406751"/>
            <a:ext cx="2358236" cy="22669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628650" y="0"/>
            <a:ext cx="7886700" cy="485775"/>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Clr>
                <a:srgbClr val="262626"/>
              </a:buClr>
              <a:buSzPts val="3000"/>
              <a:buFont typeface="Garamond"/>
              <a:buNone/>
            </a:pPr>
            <a:r>
              <a:rPr b="0" i="0" lang="en" sz="3000" u="none">
                <a:solidFill>
                  <a:srgbClr val="262626"/>
                </a:solidFill>
                <a:latin typeface="Garamond"/>
                <a:ea typeface="Garamond"/>
                <a:cs typeface="Garamond"/>
                <a:sym typeface="Garamond"/>
              </a:rPr>
              <a:t>System Architecture</a:t>
            </a:r>
            <a:endParaRPr/>
          </a:p>
        </p:txBody>
      </p:sp>
      <p:sp>
        <p:nvSpPr>
          <p:cNvPr id="107" name="Google Shape;107;p19"/>
          <p:cNvSpPr txBox="1"/>
          <p:nvPr>
            <p:ph idx="1" type="body"/>
          </p:nvPr>
        </p:nvSpPr>
        <p:spPr>
          <a:xfrm>
            <a:off x="628650" y="867400"/>
            <a:ext cx="3051600" cy="1839600"/>
          </a:xfrm>
          <a:prstGeom prst="rect">
            <a:avLst/>
          </a:prstGeom>
          <a:noFill/>
          <a:ln>
            <a:noFill/>
          </a:ln>
        </p:spPr>
        <p:txBody>
          <a:bodyPr anchorCtr="0" anchor="t" bIns="34275" lIns="68575" spcFirstLastPara="1" rIns="68575" wrap="square" tIns="34275">
            <a:normAutofit lnSpcReduction="10000"/>
          </a:bodyPr>
          <a:lstStyle/>
          <a:p>
            <a:pPr indent="-222250" lvl="0" marL="215900" marR="0" rtl="0" algn="l">
              <a:lnSpc>
                <a:spcPct val="100000"/>
              </a:lnSpc>
              <a:spcBef>
                <a:spcPts val="0"/>
              </a:spcBef>
              <a:spcAft>
                <a:spcPts val="0"/>
              </a:spcAft>
              <a:buClr>
                <a:schemeClr val="accent1"/>
              </a:buClr>
              <a:buSzPts val="2100"/>
              <a:buFont typeface="Arial"/>
              <a:buChar char="•"/>
            </a:pPr>
            <a:r>
              <a:rPr b="0" i="0" lang="en" sz="1800" u="none" cap="none" strike="noStrike">
                <a:solidFill>
                  <a:srgbClr val="262626"/>
                </a:solidFill>
                <a:latin typeface="Garamond"/>
                <a:ea typeface="Garamond"/>
                <a:cs typeface="Garamond"/>
                <a:sym typeface="Garamond"/>
              </a:rPr>
              <a:t>100Mhz Clock</a:t>
            </a:r>
            <a:endParaRPr b="0" i="0" sz="1800" u="none" cap="none" strike="noStrike">
              <a:solidFill>
                <a:srgbClr val="262626"/>
              </a:solidFill>
              <a:latin typeface="Garamond"/>
              <a:ea typeface="Garamond"/>
              <a:cs typeface="Garamond"/>
              <a:sym typeface="Garamond"/>
            </a:endParaRPr>
          </a:p>
          <a:p>
            <a:pPr indent="-222250" lvl="0" marL="215900" marR="0" rtl="0" algn="l">
              <a:lnSpc>
                <a:spcPct val="100000"/>
              </a:lnSpc>
              <a:spcBef>
                <a:spcPts val="800"/>
              </a:spcBef>
              <a:spcAft>
                <a:spcPts val="0"/>
              </a:spcAft>
              <a:buClr>
                <a:schemeClr val="accent1"/>
              </a:buClr>
              <a:buSzPts val="2100"/>
              <a:buFont typeface="Arial"/>
              <a:buChar char="•"/>
            </a:pPr>
            <a:r>
              <a:rPr b="0" i="0" lang="en" sz="1800" u="none" cap="none" strike="noStrike">
                <a:solidFill>
                  <a:srgbClr val="262626"/>
                </a:solidFill>
                <a:latin typeface="Garamond"/>
                <a:ea typeface="Garamond"/>
                <a:cs typeface="Garamond"/>
                <a:sym typeface="Garamond"/>
              </a:rPr>
              <a:t>UART communication between PC and FPGA</a:t>
            </a:r>
            <a:endParaRPr b="0" i="0" sz="1800" u="none" cap="none" strike="noStrike">
              <a:solidFill>
                <a:srgbClr val="262626"/>
              </a:solidFill>
              <a:latin typeface="Garamond"/>
              <a:ea typeface="Garamond"/>
              <a:cs typeface="Garamond"/>
              <a:sym typeface="Garamond"/>
            </a:endParaRPr>
          </a:p>
          <a:p>
            <a:pPr indent="-222250" lvl="0" marL="215900" marR="0" rtl="0" algn="l">
              <a:lnSpc>
                <a:spcPct val="100000"/>
              </a:lnSpc>
              <a:spcBef>
                <a:spcPts val="800"/>
              </a:spcBef>
              <a:spcAft>
                <a:spcPts val="0"/>
              </a:spcAft>
              <a:buClr>
                <a:schemeClr val="accent1"/>
              </a:buClr>
              <a:buSzPts val="2100"/>
              <a:buFont typeface="Arial"/>
              <a:buChar char="•"/>
            </a:pPr>
            <a:r>
              <a:rPr b="0" i="0" lang="en" sz="1800" u="none" cap="none" strike="noStrike">
                <a:solidFill>
                  <a:srgbClr val="262626"/>
                </a:solidFill>
                <a:latin typeface="Garamond"/>
                <a:ea typeface="Garamond"/>
                <a:cs typeface="Garamond"/>
                <a:sym typeface="Garamond"/>
              </a:rPr>
              <a:t>Sudoku Solver is the core</a:t>
            </a:r>
            <a:endParaRPr/>
          </a:p>
          <a:p>
            <a:pPr indent="-88900" lvl="0" marL="215900" marR="0" rtl="0" algn="l">
              <a:spcBef>
                <a:spcPts val="800"/>
              </a:spcBef>
              <a:spcAft>
                <a:spcPts val="0"/>
              </a:spcAft>
              <a:buClr>
                <a:schemeClr val="accent1"/>
              </a:buClr>
              <a:buSzPts val="2100"/>
              <a:buFont typeface="Arial"/>
              <a:buNone/>
            </a:pPr>
            <a:r>
              <a:t/>
            </a:r>
            <a:endParaRPr b="0" i="0" sz="1800" u="none" cap="none">
              <a:solidFill>
                <a:srgbClr val="262626"/>
              </a:solidFill>
              <a:latin typeface="Garamond"/>
              <a:ea typeface="Garamond"/>
              <a:cs typeface="Garamond"/>
              <a:sym typeface="Garamond"/>
            </a:endParaRPr>
          </a:p>
        </p:txBody>
      </p:sp>
      <p:sp>
        <p:nvSpPr>
          <p:cNvPr id="108" name="Google Shape;108;p19"/>
          <p:cNvSpPr txBox="1"/>
          <p:nvPr/>
        </p:nvSpPr>
        <p:spPr>
          <a:xfrm>
            <a:off x="628650" y="2369900"/>
            <a:ext cx="3295200" cy="2609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1800"/>
              <a:buFont typeface="Garamond"/>
              <a:buNone/>
            </a:pPr>
            <a:r>
              <a:rPr b="0" i="0" lang="en" sz="1800" u="none">
                <a:solidFill>
                  <a:schemeClr val="dk1"/>
                </a:solidFill>
                <a:latin typeface="Garamond"/>
                <a:ea typeface="Garamond"/>
                <a:cs typeface="Garamond"/>
                <a:sym typeface="Garamond"/>
              </a:rPr>
              <a:t>MEMORY ORGANISATION</a:t>
            </a:r>
            <a:endParaRPr sz="1100"/>
          </a:p>
          <a:p>
            <a:pPr indent="0" lvl="0" marL="0" marR="0" rtl="0" algn="l">
              <a:lnSpc>
                <a:spcPct val="100000"/>
              </a:lnSpc>
              <a:spcBef>
                <a:spcPts val="0"/>
              </a:spcBef>
              <a:spcAft>
                <a:spcPts val="0"/>
              </a:spcAft>
              <a:buClr>
                <a:schemeClr val="dk1"/>
              </a:buClr>
              <a:buSzPts val="1200"/>
              <a:buFont typeface="Garamond"/>
              <a:buNone/>
            </a:pPr>
            <a:r>
              <a:t/>
            </a:r>
            <a:endParaRPr b="0" i="0" sz="1200" u="none">
              <a:solidFill>
                <a:schemeClr val="dk1"/>
              </a:solidFill>
              <a:latin typeface="Garamond"/>
              <a:ea typeface="Garamond"/>
              <a:cs typeface="Garamond"/>
              <a:sym typeface="Garamond"/>
            </a:endParaRPr>
          </a:p>
          <a:p>
            <a:pPr indent="-95250" lvl="0" marL="0" marR="0" rtl="0" algn="l">
              <a:lnSpc>
                <a:spcPct val="100000"/>
              </a:lnSpc>
              <a:spcBef>
                <a:spcPts val="0"/>
              </a:spcBef>
              <a:spcAft>
                <a:spcPts val="0"/>
              </a:spcAft>
              <a:buClr>
                <a:schemeClr val="dk1"/>
              </a:buClr>
              <a:buSzPts val="1500"/>
              <a:buFont typeface="Arial"/>
              <a:buChar char="•"/>
            </a:pPr>
            <a:r>
              <a:rPr b="0" i="0" lang="en" sz="1500" u="none">
                <a:solidFill>
                  <a:schemeClr val="dk1"/>
                </a:solidFill>
                <a:latin typeface="Garamond"/>
                <a:ea typeface="Garamond"/>
                <a:cs typeface="Garamond"/>
                <a:sym typeface="Garamond"/>
              </a:rPr>
              <a:t>Display RAM: display ram[0:80], 81 ×4 bits) holds the current sudoku grid, </a:t>
            </a:r>
            <a:r>
              <a:rPr lang="en" sz="1500">
                <a:solidFill>
                  <a:schemeClr val="dk1"/>
                </a:solidFill>
                <a:latin typeface="Garamond"/>
                <a:ea typeface="Garamond"/>
                <a:cs typeface="Garamond"/>
                <a:sym typeface="Garamond"/>
              </a:rPr>
              <a:t>continuously</a:t>
            </a:r>
            <a:r>
              <a:rPr lang="en" sz="1500">
                <a:solidFill>
                  <a:schemeClr val="dk1"/>
                </a:solidFill>
                <a:latin typeface="Garamond"/>
                <a:ea typeface="Garamond"/>
                <a:cs typeface="Garamond"/>
                <a:sym typeface="Garamond"/>
              </a:rPr>
              <a:t> read by the VGA</a:t>
            </a:r>
            <a:endParaRPr sz="1100"/>
          </a:p>
          <a:p>
            <a:pPr indent="-95250" lvl="0" marL="0" marR="0" rtl="0" algn="l">
              <a:lnSpc>
                <a:spcPct val="100000"/>
              </a:lnSpc>
              <a:spcBef>
                <a:spcPts val="0"/>
              </a:spcBef>
              <a:spcAft>
                <a:spcPts val="0"/>
              </a:spcAft>
              <a:buClr>
                <a:schemeClr val="dk1"/>
              </a:buClr>
              <a:buSzPts val="1500"/>
              <a:buFont typeface="Arial"/>
              <a:buChar char="•"/>
            </a:pPr>
            <a:r>
              <a:rPr b="0" i="0" lang="en" sz="1500" u="none">
                <a:solidFill>
                  <a:schemeClr val="dk1"/>
                </a:solidFill>
                <a:latin typeface="Garamond"/>
                <a:ea typeface="Garamond"/>
                <a:cs typeface="Garamond"/>
                <a:sym typeface="Garamond"/>
              </a:rPr>
              <a:t>The solution RAM (solution ram[0:80], 81 × 4 bits) : holds the solution from the </a:t>
            </a:r>
            <a:r>
              <a:rPr lang="en" sz="1500">
                <a:solidFill>
                  <a:schemeClr val="dk1"/>
                </a:solidFill>
                <a:latin typeface="Garamond"/>
                <a:ea typeface="Garamond"/>
                <a:cs typeface="Garamond"/>
                <a:sym typeface="Garamond"/>
              </a:rPr>
              <a:t>puzzle</a:t>
            </a:r>
            <a:endParaRPr sz="1500">
              <a:solidFill>
                <a:schemeClr val="dk1"/>
              </a:solidFill>
              <a:latin typeface="Garamond"/>
              <a:ea typeface="Garamond"/>
              <a:cs typeface="Garamond"/>
              <a:sym typeface="Garamond"/>
            </a:endParaRPr>
          </a:p>
          <a:p>
            <a:pPr indent="-95250" lvl="0" marL="0" marR="0" rtl="0" algn="l">
              <a:lnSpc>
                <a:spcPct val="100000"/>
              </a:lnSpc>
              <a:spcBef>
                <a:spcPts val="0"/>
              </a:spcBef>
              <a:spcAft>
                <a:spcPts val="0"/>
              </a:spcAft>
              <a:buClr>
                <a:schemeClr val="dk1"/>
              </a:buClr>
              <a:buSzPts val="1500"/>
              <a:buFont typeface="Garamond"/>
              <a:buChar char="•"/>
            </a:pPr>
            <a:r>
              <a:rPr lang="en" sz="1500">
                <a:solidFill>
                  <a:schemeClr val="dk1"/>
                </a:solidFill>
                <a:latin typeface="Garamond"/>
                <a:ea typeface="Garamond"/>
                <a:cs typeface="Garamond"/>
                <a:sym typeface="Garamond"/>
              </a:rPr>
              <a:t>Candidate store:maintains possible values for each cell using 9 bit mask</a:t>
            </a:r>
            <a:endParaRPr sz="1500">
              <a:solidFill>
                <a:schemeClr val="dk1"/>
              </a:solidFill>
              <a:latin typeface="Garamond"/>
              <a:ea typeface="Garamond"/>
              <a:cs typeface="Garamond"/>
              <a:sym typeface="Garamond"/>
            </a:endParaRPr>
          </a:p>
          <a:p>
            <a:pPr indent="0" lvl="0" marL="0" marR="0" rtl="0" algn="l">
              <a:lnSpc>
                <a:spcPct val="100000"/>
              </a:lnSpc>
              <a:spcBef>
                <a:spcPts val="0"/>
              </a:spcBef>
              <a:spcAft>
                <a:spcPts val="0"/>
              </a:spcAft>
              <a:buNone/>
            </a:pPr>
            <a:r>
              <a:t/>
            </a:r>
            <a:endParaRPr b="0" i="0" sz="1500" u="none">
              <a:solidFill>
                <a:schemeClr val="dk1"/>
              </a:solidFill>
              <a:latin typeface="Garamond"/>
              <a:ea typeface="Garamond"/>
              <a:cs typeface="Garamond"/>
              <a:sym typeface="Garamond"/>
            </a:endParaRPr>
          </a:p>
        </p:txBody>
      </p:sp>
      <p:pic>
        <p:nvPicPr>
          <p:cNvPr id="109" name="Google Shape;109;p19" title="Picture2.png"/>
          <p:cNvPicPr preferRelativeResize="0"/>
          <p:nvPr/>
        </p:nvPicPr>
        <p:blipFill>
          <a:blip r:embed="rId3">
            <a:alphaModFix/>
          </a:blip>
          <a:stretch>
            <a:fillRect/>
          </a:stretch>
        </p:blipFill>
        <p:spPr>
          <a:xfrm>
            <a:off x="3833700" y="814050"/>
            <a:ext cx="4681652" cy="351540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971550" y="1073944"/>
            <a:ext cx="7200900" cy="640556"/>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rgbClr val="262626"/>
              </a:buClr>
              <a:buSzPts val="3300"/>
              <a:buFont typeface="Garamond"/>
              <a:buNone/>
            </a:pPr>
            <a:r>
              <a:rPr b="0" i="0" lang="en" sz="3300" u="none">
                <a:solidFill>
                  <a:srgbClr val="262626"/>
                </a:solidFill>
                <a:latin typeface="Garamond"/>
                <a:ea typeface="Garamond"/>
                <a:cs typeface="Garamond"/>
                <a:sym typeface="Garamond"/>
              </a:rPr>
              <a:t>UART Interface</a:t>
            </a:r>
            <a:endParaRPr/>
          </a:p>
        </p:txBody>
      </p:sp>
      <p:sp>
        <p:nvSpPr>
          <p:cNvPr id="115" name="Google Shape;115;p20"/>
          <p:cNvSpPr txBox="1"/>
          <p:nvPr>
            <p:ph idx="1" type="body"/>
          </p:nvPr>
        </p:nvSpPr>
        <p:spPr>
          <a:xfrm>
            <a:off x="859631" y="1918097"/>
            <a:ext cx="7200900" cy="2106215"/>
          </a:xfrm>
          <a:prstGeom prst="rect">
            <a:avLst/>
          </a:prstGeom>
          <a:noFill/>
          <a:ln>
            <a:noFill/>
          </a:ln>
        </p:spPr>
        <p:txBody>
          <a:bodyPr anchorCtr="0" anchor="t" bIns="34275" lIns="68575" spcFirstLastPara="1" rIns="68575" wrap="square" tIns="34275">
            <a:normAutofit/>
          </a:bodyPr>
          <a:lstStyle/>
          <a:p>
            <a:pPr indent="-222250" lvl="0" marL="215900" marR="0" rtl="0" algn="l">
              <a:lnSpc>
                <a:spcPct val="100000"/>
              </a:lnSpc>
              <a:spcBef>
                <a:spcPts val="0"/>
              </a:spcBef>
              <a:spcAft>
                <a:spcPts val="0"/>
              </a:spcAft>
              <a:buClr>
                <a:schemeClr val="accent1"/>
              </a:buClr>
              <a:buSzPts val="2100"/>
              <a:buFont typeface="Arial"/>
              <a:buChar char="•"/>
            </a:pPr>
            <a:r>
              <a:rPr b="0" i="0" lang="en" sz="1800" u="none" cap="none">
                <a:solidFill>
                  <a:srgbClr val="262626"/>
                </a:solidFill>
                <a:latin typeface="Garamond"/>
                <a:ea typeface="Garamond"/>
                <a:cs typeface="Garamond"/>
                <a:sym typeface="Garamond"/>
              </a:rPr>
              <a:t>CLKS per bit : 868 (100,000,000/115,200 ≈ 868)</a:t>
            </a:r>
            <a:endParaRPr/>
          </a:p>
          <a:p>
            <a:pPr indent="-222250" lvl="0" marL="215900" marR="0" rtl="0" algn="l">
              <a:lnSpc>
                <a:spcPct val="100000"/>
              </a:lnSpc>
              <a:spcBef>
                <a:spcPts val="800"/>
              </a:spcBef>
              <a:spcAft>
                <a:spcPts val="0"/>
              </a:spcAft>
              <a:buClr>
                <a:schemeClr val="accent1"/>
              </a:buClr>
              <a:buSzPts val="2100"/>
              <a:buFont typeface="Arial"/>
              <a:buChar char="•"/>
            </a:pPr>
            <a:r>
              <a:rPr b="0" i="0" lang="en" sz="1800" u="none" cap="none">
                <a:solidFill>
                  <a:srgbClr val="262626"/>
                </a:solidFill>
                <a:latin typeface="Garamond"/>
                <a:ea typeface="Garamond"/>
                <a:cs typeface="Garamond"/>
                <a:sym typeface="Garamond"/>
              </a:rPr>
              <a:t>Baud rate 115200</a:t>
            </a:r>
            <a:endParaRPr/>
          </a:p>
          <a:p>
            <a:pPr indent="-222250" lvl="0" marL="215900" marR="0" rtl="0" algn="l">
              <a:lnSpc>
                <a:spcPct val="100000"/>
              </a:lnSpc>
              <a:spcBef>
                <a:spcPts val="800"/>
              </a:spcBef>
              <a:spcAft>
                <a:spcPts val="0"/>
              </a:spcAft>
              <a:buClr>
                <a:schemeClr val="accent1"/>
              </a:buClr>
              <a:buSzPts val="2100"/>
              <a:buFont typeface="Arial"/>
              <a:buChar char="•"/>
            </a:pPr>
            <a:r>
              <a:rPr b="0" i="0" lang="en" sz="1800" u="none" cap="none">
                <a:solidFill>
                  <a:srgbClr val="262626"/>
                </a:solidFill>
                <a:latin typeface="Garamond"/>
                <a:ea typeface="Garamond"/>
                <a:cs typeface="Garamond"/>
                <a:sym typeface="Garamond"/>
              </a:rPr>
              <a:t>The host Python script transmits exactly 81 bytes, each carrying a BCD digit (0 for empty, 1–9 for given clues) in the lower nibble. The FPGA echoes the solution as 81 bytes followed by 11 performance bytes and a sentinel 0xFE, for a total of 93 bytes per transaction.</a:t>
            </a:r>
            <a:endParaRPr b="0" i="0" sz="1800" u="none" cap="none">
              <a:solidFill>
                <a:srgbClr val="262626"/>
              </a:solidFill>
              <a:latin typeface="Garamond"/>
              <a:ea typeface="Garamond"/>
              <a:cs typeface="Garamond"/>
              <a:sym typeface="Garamond"/>
            </a:endParaRPr>
          </a:p>
          <a:p>
            <a:pPr indent="-215900" lvl="0" marL="215900" marR="0" rtl="0" algn="l">
              <a:lnSpc>
                <a:spcPct val="100000"/>
              </a:lnSpc>
              <a:spcBef>
                <a:spcPts val="800"/>
              </a:spcBef>
              <a:spcAft>
                <a:spcPts val="0"/>
              </a:spcAft>
              <a:buClr>
                <a:schemeClr val="accent1"/>
              </a:buClr>
              <a:buSzPts val="2100"/>
              <a:buFont typeface="Arial"/>
              <a:buNone/>
            </a:pPr>
            <a:r>
              <a:t/>
            </a:r>
            <a:endParaRPr b="0" i="0" sz="1800" u="none" cap="none">
              <a:solidFill>
                <a:srgbClr val="262626"/>
              </a:solidFill>
              <a:latin typeface="Garamond"/>
              <a:ea typeface="Garamond"/>
              <a:cs typeface="Garamond"/>
              <a:sym typeface="Garamond"/>
            </a:endParaRPr>
          </a:p>
          <a:p>
            <a:pPr indent="-88900" lvl="0" marL="215900" marR="0" rtl="0" algn="l">
              <a:spcBef>
                <a:spcPts val="800"/>
              </a:spcBef>
              <a:spcAft>
                <a:spcPts val="0"/>
              </a:spcAft>
              <a:buClr>
                <a:schemeClr val="accent1"/>
              </a:buClr>
              <a:buSzPts val="2100"/>
              <a:buFont typeface="Arial"/>
              <a:buNone/>
            </a:pPr>
            <a:r>
              <a:t/>
            </a:r>
            <a:endParaRPr b="0" i="0" sz="1800" u="none" cap="none">
              <a:solidFill>
                <a:srgbClr val="262626"/>
              </a:solidFill>
              <a:latin typeface="Garamond"/>
              <a:ea typeface="Garamond"/>
              <a:cs typeface="Garamond"/>
              <a:sym typeface="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1047571" y="421572"/>
            <a:ext cx="7200900" cy="558300"/>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Clr>
                <a:srgbClr val="262626"/>
              </a:buClr>
              <a:buSzPts val="3000"/>
              <a:buFont typeface="Garamond"/>
              <a:buNone/>
            </a:pPr>
            <a:r>
              <a:rPr b="0" i="0" lang="en" sz="3000" u="none">
                <a:solidFill>
                  <a:srgbClr val="262626"/>
                </a:solidFill>
                <a:latin typeface="Garamond"/>
                <a:ea typeface="Garamond"/>
                <a:cs typeface="Garamond"/>
                <a:sym typeface="Garamond"/>
              </a:rPr>
              <a:t>SOLVER ARCHITECTUE</a:t>
            </a:r>
            <a:endParaRPr/>
          </a:p>
        </p:txBody>
      </p:sp>
      <p:pic>
        <p:nvPicPr>
          <p:cNvPr id="121" name="Google Shape;121;p21"/>
          <p:cNvPicPr preferRelativeResize="0"/>
          <p:nvPr/>
        </p:nvPicPr>
        <p:blipFill rotWithShape="1">
          <a:blip r:embed="rId3">
            <a:alphaModFix/>
          </a:blip>
          <a:srcRect b="0" l="0" r="0" t="0"/>
          <a:stretch/>
        </p:blipFill>
        <p:spPr>
          <a:xfrm>
            <a:off x="1067225" y="902600"/>
            <a:ext cx="7200898" cy="38778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2"/>
          <p:cNvPicPr preferRelativeResize="0"/>
          <p:nvPr/>
        </p:nvPicPr>
        <p:blipFill rotWithShape="1">
          <a:blip r:embed="rId3">
            <a:alphaModFix/>
          </a:blip>
          <a:srcRect b="0" l="0" r="0" t="0"/>
          <a:stretch/>
        </p:blipFill>
        <p:spPr>
          <a:xfrm>
            <a:off x="681038" y="565546"/>
            <a:ext cx="3774281" cy="3888581"/>
          </a:xfrm>
          <a:prstGeom prst="rect">
            <a:avLst/>
          </a:prstGeom>
          <a:noFill/>
          <a:ln>
            <a:noFill/>
          </a:ln>
        </p:spPr>
      </p:pic>
      <p:sp>
        <p:nvSpPr>
          <p:cNvPr id="127" name="Google Shape;127;p22"/>
          <p:cNvSpPr txBox="1"/>
          <p:nvPr/>
        </p:nvSpPr>
        <p:spPr>
          <a:xfrm>
            <a:off x="4374356" y="1150144"/>
            <a:ext cx="3588544" cy="391715"/>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dk1"/>
              </a:buClr>
              <a:buSzPts val="2100"/>
              <a:buFont typeface="Garamond"/>
              <a:buNone/>
            </a:pPr>
            <a:r>
              <a:rPr b="1" i="0" lang="en" sz="2100" u="none">
                <a:solidFill>
                  <a:schemeClr val="dk1"/>
                </a:solidFill>
                <a:latin typeface="Garamond"/>
                <a:ea typeface="Garamond"/>
                <a:cs typeface="Garamond"/>
                <a:sym typeface="Garamond"/>
              </a:rPr>
              <a:t>TOP LEVEL FSM</a:t>
            </a:r>
            <a:endParaRPr sz="1100"/>
          </a:p>
        </p:txBody>
      </p:sp>
      <p:sp>
        <p:nvSpPr>
          <p:cNvPr id="128" name="Google Shape;128;p22"/>
          <p:cNvSpPr txBox="1"/>
          <p:nvPr/>
        </p:nvSpPr>
        <p:spPr>
          <a:xfrm>
            <a:off x="4572000" y="1835944"/>
            <a:ext cx="3390900" cy="2378100"/>
          </a:xfrm>
          <a:prstGeom prst="rect">
            <a:avLst/>
          </a:prstGeom>
          <a:noFill/>
          <a:ln>
            <a:noFill/>
          </a:ln>
        </p:spPr>
        <p:txBody>
          <a:bodyPr anchorCtr="0" anchor="t" bIns="34275" lIns="68575" spcFirstLastPara="1" rIns="68575" wrap="square" tIns="34275">
            <a:spAutoFit/>
          </a:bodyPr>
          <a:lstStyle/>
          <a:p>
            <a:pPr indent="-247650" lvl="0" marL="2540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Once the FPGA receives the input puzzle either through UART or Manual Load and S15 is flicked down</a:t>
            </a:r>
            <a:endParaRPr sz="1100"/>
          </a:p>
          <a:p>
            <a:pPr indent="-247650" lvl="0" marL="2540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start the AC-3</a:t>
            </a:r>
            <a:endParaRPr sz="1100"/>
          </a:p>
          <a:p>
            <a:pPr indent="-247650" lvl="0" marL="2540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Wait for the solution</a:t>
            </a:r>
            <a:endParaRPr b="0" i="0" sz="1500" u="none">
              <a:solidFill>
                <a:schemeClr val="dk1"/>
              </a:solidFill>
              <a:latin typeface="Garamond"/>
              <a:ea typeface="Garamond"/>
              <a:cs typeface="Garamond"/>
              <a:sym typeface="Garamond"/>
            </a:endParaRPr>
          </a:p>
          <a:p>
            <a:pPr indent="-247650" lvl="0" marL="2540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If solution exists, then success</a:t>
            </a:r>
            <a:endParaRPr sz="1100"/>
          </a:p>
          <a:p>
            <a:pPr indent="-247650" lvl="0" marL="2540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Else Fail</a:t>
            </a:r>
            <a:endParaRPr sz="1100"/>
          </a:p>
          <a:p>
            <a:pPr indent="-247650" lvl="0" marL="2540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Count bytes number of bytes transmitted(&lt;80? SEND: SEND PERF)</a:t>
            </a:r>
            <a:endParaRPr sz="1100"/>
          </a:p>
          <a:p>
            <a:pPr indent="-247650" lvl="0" marL="2540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SEND Performance Metrics </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idx="1" type="body"/>
          </p:nvPr>
        </p:nvSpPr>
        <p:spPr>
          <a:xfrm>
            <a:off x="4885225" y="1430175"/>
            <a:ext cx="3043500" cy="3262200"/>
          </a:xfrm>
          <a:prstGeom prst="rect">
            <a:avLst/>
          </a:prstGeom>
          <a:noFill/>
          <a:ln>
            <a:noFill/>
          </a:ln>
        </p:spPr>
        <p:txBody>
          <a:bodyPr anchorCtr="0" anchor="t" bIns="34275" lIns="68575" spcFirstLastPara="1" rIns="68575" wrap="square" tIns="34275">
            <a:normAutofit lnSpcReduction="10000"/>
          </a:bodyPr>
          <a:lstStyle/>
          <a:p>
            <a:pPr indent="-342900" lvl="0" marL="342900" marR="0" rtl="0" algn="l">
              <a:lnSpc>
                <a:spcPct val="80000"/>
              </a:lnSpc>
              <a:spcBef>
                <a:spcPts val="0"/>
              </a:spcBef>
              <a:spcAft>
                <a:spcPts val="0"/>
              </a:spcAft>
              <a:buClr>
                <a:schemeClr val="accent1"/>
              </a:buClr>
              <a:buSzPts val="1400"/>
              <a:buFont typeface="Garamond"/>
              <a:buAutoNum type="arabicPeriod"/>
            </a:pPr>
            <a:r>
              <a:rPr b="0" i="0" lang="en" sz="1200" u="none" cap="none">
                <a:solidFill>
                  <a:srgbClr val="262626"/>
                </a:solidFill>
                <a:latin typeface="Garamond"/>
                <a:ea typeface="Garamond"/>
                <a:cs typeface="Garamond"/>
                <a:sym typeface="Garamond"/>
              </a:rPr>
              <a:t>Once the start signal is given, the state machine moves to the compute phase</a:t>
            </a:r>
            <a:endParaRPr/>
          </a:p>
          <a:p>
            <a:pPr indent="-342900" lvl="0" marL="342900" marR="0" rtl="0" algn="l">
              <a:lnSpc>
                <a:spcPct val="80000"/>
              </a:lnSpc>
              <a:spcBef>
                <a:spcPts val="700"/>
              </a:spcBef>
              <a:spcAft>
                <a:spcPts val="0"/>
              </a:spcAft>
              <a:buClr>
                <a:schemeClr val="accent1"/>
              </a:buClr>
              <a:buSzPts val="1400"/>
              <a:buFont typeface="Garamond"/>
              <a:buAutoNum type="arabicPeriod"/>
            </a:pPr>
            <a:r>
              <a:rPr b="0" i="0" lang="en" sz="1200" u="none" cap="none">
                <a:solidFill>
                  <a:srgbClr val="262626"/>
                </a:solidFill>
                <a:latin typeface="Garamond"/>
                <a:ea typeface="Garamond"/>
                <a:cs typeface="Garamond"/>
                <a:sym typeface="Garamond"/>
              </a:rPr>
              <a:t>Each of the 8</a:t>
            </a:r>
            <a:r>
              <a:rPr lang="en" sz="1200"/>
              <a:t>1</a:t>
            </a:r>
            <a:r>
              <a:rPr b="0" i="0" lang="en" sz="1200" u="none" cap="none">
                <a:solidFill>
                  <a:srgbClr val="262626"/>
                </a:solidFill>
                <a:latin typeface="Garamond"/>
                <a:ea typeface="Garamond"/>
                <a:cs typeface="Garamond"/>
                <a:sym typeface="Garamond"/>
              </a:rPr>
              <a:t> engines run in parallel checking for constraints, and compute new mask</a:t>
            </a:r>
            <a:endParaRPr/>
          </a:p>
          <a:p>
            <a:pPr indent="-342900" lvl="0" marL="342900" marR="0" rtl="0" algn="l">
              <a:lnSpc>
                <a:spcPct val="80000"/>
              </a:lnSpc>
              <a:spcBef>
                <a:spcPts val="700"/>
              </a:spcBef>
              <a:spcAft>
                <a:spcPts val="0"/>
              </a:spcAft>
              <a:buClr>
                <a:schemeClr val="accent1"/>
              </a:buClr>
              <a:buSzPts val="1400"/>
              <a:buFont typeface="Garamond"/>
              <a:buAutoNum type="arabicPeriod"/>
            </a:pPr>
            <a:r>
              <a:rPr b="0" i="0" lang="en" sz="1200" u="none" cap="none">
                <a:solidFill>
                  <a:srgbClr val="262626"/>
                </a:solidFill>
                <a:latin typeface="Garamond"/>
                <a:ea typeface="Garamond"/>
                <a:cs typeface="Garamond"/>
                <a:sym typeface="Garamond"/>
              </a:rPr>
              <a:t>The updated masks are then written back into the candidate store</a:t>
            </a:r>
            <a:endParaRPr/>
          </a:p>
          <a:p>
            <a:pPr indent="-342900" lvl="0" marL="342900" marR="0" rtl="0" algn="l">
              <a:lnSpc>
                <a:spcPct val="80000"/>
              </a:lnSpc>
              <a:spcBef>
                <a:spcPts val="700"/>
              </a:spcBef>
              <a:spcAft>
                <a:spcPts val="0"/>
              </a:spcAft>
              <a:buClr>
                <a:schemeClr val="accent1"/>
              </a:buClr>
              <a:buSzPts val="1400"/>
              <a:buFont typeface="Garamond"/>
              <a:buAutoNum type="arabicPeriod"/>
            </a:pPr>
            <a:r>
              <a:rPr b="0" i="0" lang="en" sz="1200" u="none" cap="none">
                <a:solidFill>
                  <a:srgbClr val="262626"/>
                </a:solidFill>
                <a:latin typeface="Garamond"/>
                <a:ea typeface="Garamond"/>
                <a:cs typeface="Garamond"/>
                <a:sym typeface="Garamond"/>
              </a:rPr>
              <a:t>COMMIT: Changes become visible</a:t>
            </a:r>
            <a:endParaRPr/>
          </a:p>
          <a:p>
            <a:pPr indent="-342900" lvl="0" marL="342900" marR="0" rtl="0" algn="l">
              <a:lnSpc>
                <a:spcPct val="80000"/>
              </a:lnSpc>
              <a:spcBef>
                <a:spcPts val="700"/>
              </a:spcBef>
              <a:spcAft>
                <a:spcPts val="0"/>
              </a:spcAft>
              <a:buClr>
                <a:schemeClr val="accent1"/>
              </a:buClr>
              <a:buSzPts val="1400"/>
              <a:buFont typeface="Garamond"/>
              <a:buAutoNum type="arabicPeriod"/>
            </a:pPr>
            <a:r>
              <a:rPr b="0" i="0" lang="en" sz="1200" u="none" cap="none">
                <a:solidFill>
                  <a:srgbClr val="262626"/>
                </a:solidFill>
                <a:latin typeface="Garamond"/>
                <a:ea typeface="Garamond"/>
                <a:cs typeface="Garamond"/>
                <a:sym typeface="Garamond"/>
              </a:rPr>
              <a:t>NEXT Pass: Check if more changes needed</a:t>
            </a:r>
            <a:endParaRPr b="0" i="0" sz="1200" u="none" cap="none">
              <a:solidFill>
                <a:srgbClr val="262626"/>
              </a:solidFill>
              <a:latin typeface="Garamond"/>
              <a:ea typeface="Garamond"/>
              <a:cs typeface="Garamond"/>
              <a:sym typeface="Garamond"/>
            </a:endParaRPr>
          </a:p>
          <a:p>
            <a:pPr indent="-342900" lvl="0" marL="342900" marR="0" rtl="0" algn="l">
              <a:lnSpc>
                <a:spcPct val="80000"/>
              </a:lnSpc>
              <a:spcBef>
                <a:spcPts val="700"/>
              </a:spcBef>
              <a:spcAft>
                <a:spcPts val="0"/>
              </a:spcAft>
              <a:buClr>
                <a:schemeClr val="accent1"/>
              </a:buClr>
              <a:buSzPts val="1400"/>
              <a:buFont typeface="Garamond"/>
              <a:buAutoNum type="arabicPeriod"/>
            </a:pPr>
            <a:r>
              <a:rPr b="0" i="0" lang="en" sz="1200" u="none" cap="none">
                <a:solidFill>
                  <a:srgbClr val="262626"/>
                </a:solidFill>
                <a:latin typeface="Garamond"/>
                <a:ea typeface="Garamond"/>
                <a:cs typeface="Garamond"/>
                <a:sym typeface="Garamond"/>
              </a:rPr>
              <a:t>If yes Compute again</a:t>
            </a:r>
            <a:endParaRPr/>
          </a:p>
          <a:p>
            <a:pPr indent="-342900" lvl="0" marL="342900" marR="0" rtl="0" algn="l">
              <a:lnSpc>
                <a:spcPct val="80000"/>
              </a:lnSpc>
              <a:spcBef>
                <a:spcPts val="700"/>
              </a:spcBef>
              <a:spcAft>
                <a:spcPts val="0"/>
              </a:spcAft>
              <a:buClr>
                <a:schemeClr val="accent1"/>
              </a:buClr>
              <a:buSzPts val="1400"/>
              <a:buFont typeface="Garamond"/>
              <a:buAutoNum type="arabicPeriod"/>
            </a:pPr>
            <a:r>
              <a:rPr b="0" i="0" lang="en" sz="1200" u="none" cap="none">
                <a:solidFill>
                  <a:srgbClr val="262626"/>
                </a:solidFill>
                <a:latin typeface="Garamond"/>
                <a:ea typeface="Garamond"/>
                <a:cs typeface="Garamond"/>
                <a:sym typeface="Garamond"/>
              </a:rPr>
              <a:t>If any cell has 0 candidates: Contradiction , no solution possible</a:t>
            </a:r>
            <a:endParaRPr/>
          </a:p>
          <a:p>
            <a:pPr indent="-342900" lvl="0" marL="342900" marR="0" rtl="0" algn="l">
              <a:lnSpc>
                <a:spcPct val="80000"/>
              </a:lnSpc>
              <a:spcBef>
                <a:spcPts val="700"/>
              </a:spcBef>
              <a:spcAft>
                <a:spcPts val="0"/>
              </a:spcAft>
              <a:buClr>
                <a:schemeClr val="accent1"/>
              </a:buClr>
              <a:buSzPts val="1400"/>
              <a:buFont typeface="Garamond"/>
              <a:buAutoNum type="arabicPeriod"/>
            </a:pPr>
            <a:r>
              <a:rPr b="0" i="0" lang="en" sz="1200" u="none" cap="none">
                <a:solidFill>
                  <a:srgbClr val="262626"/>
                </a:solidFill>
                <a:latin typeface="Garamond"/>
                <a:ea typeface="Garamond"/>
                <a:cs typeface="Garamond"/>
                <a:sym typeface="Garamond"/>
              </a:rPr>
              <a:t>When no more elimination exists, all cells are stable, DONE!</a:t>
            </a:r>
            <a:br>
              <a:rPr b="0" i="0" lang="en" sz="1200" u="none" cap="none">
                <a:solidFill>
                  <a:srgbClr val="262626"/>
                </a:solidFill>
                <a:latin typeface="Garamond"/>
                <a:ea typeface="Garamond"/>
                <a:cs typeface="Garamond"/>
                <a:sym typeface="Garamond"/>
              </a:rPr>
            </a:br>
            <a:endParaRPr/>
          </a:p>
          <a:p>
            <a:pPr indent="-127000" lvl="0" marL="215900" marR="0" rtl="0" algn="l">
              <a:spcBef>
                <a:spcPts val="700"/>
              </a:spcBef>
              <a:spcAft>
                <a:spcPts val="0"/>
              </a:spcAft>
              <a:buClr>
                <a:schemeClr val="accent1"/>
              </a:buClr>
              <a:buSzPts val="1400"/>
              <a:buFont typeface="Arial"/>
              <a:buNone/>
            </a:pPr>
            <a:r>
              <a:t/>
            </a:r>
            <a:endParaRPr b="0" i="0" sz="1200" u="none" cap="none">
              <a:solidFill>
                <a:srgbClr val="262626"/>
              </a:solidFill>
              <a:latin typeface="Garamond"/>
              <a:ea typeface="Garamond"/>
              <a:cs typeface="Garamond"/>
              <a:sym typeface="Garamond"/>
            </a:endParaRPr>
          </a:p>
        </p:txBody>
      </p:sp>
      <p:sp>
        <p:nvSpPr>
          <p:cNvPr id="134" name="Google Shape;134;p23"/>
          <p:cNvSpPr txBox="1"/>
          <p:nvPr/>
        </p:nvSpPr>
        <p:spPr>
          <a:xfrm>
            <a:off x="5274106" y="837384"/>
            <a:ext cx="25683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2100"/>
              <a:buFont typeface="Garamond"/>
              <a:buNone/>
            </a:pPr>
            <a:r>
              <a:rPr b="1" i="0" lang="en" sz="2100" u="none">
                <a:solidFill>
                  <a:schemeClr val="dk1"/>
                </a:solidFill>
                <a:latin typeface="Garamond"/>
                <a:ea typeface="Garamond"/>
                <a:cs typeface="Garamond"/>
                <a:sym typeface="Garamond"/>
              </a:rPr>
              <a:t>AC3 Controller FSM</a:t>
            </a:r>
            <a:endParaRPr sz="1100"/>
          </a:p>
        </p:txBody>
      </p:sp>
      <p:pic>
        <p:nvPicPr>
          <p:cNvPr id="135" name="Google Shape;135;p23"/>
          <p:cNvPicPr preferRelativeResize="0"/>
          <p:nvPr/>
        </p:nvPicPr>
        <p:blipFill>
          <a:blip r:embed="rId3">
            <a:alphaModFix/>
          </a:blip>
          <a:stretch>
            <a:fillRect/>
          </a:stretch>
        </p:blipFill>
        <p:spPr>
          <a:xfrm>
            <a:off x="468375" y="482325"/>
            <a:ext cx="4295500" cy="4294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p:cNvPicPr preferRelativeResize="0"/>
          <p:nvPr/>
        </p:nvPicPr>
        <p:blipFill rotWithShape="1">
          <a:blip r:embed="rId3">
            <a:alphaModFix/>
          </a:blip>
          <a:srcRect b="0" l="0" r="0" t="0"/>
          <a:stretch/>
        </p:blipFill>
        <p:spPr>
          <a:xfrm>
            <a:off x="721901" y="546500"/>
            <a:ext cx="3159550" cy="4217200"/>
          </a:xfrm>
          <a:prstGeom prst="rect">
            <a:avLst/>
          </a:prstGeom>
          <a:noFill/>
          <a:ln>
            <a:noFill/>
          </a:ln>
        </p:spPr>
      </p:pic>
      <p:sp>
        <p:nvSpPr>
          <p:cNvPr id="141" name="Google Shape;141;p24"/>
          <p:cNvSpPr txBox="1"/>
          <p:nvPr/>
        </p:nvSpPr>
        <p:spPr>
          <a:xfrm>
            <a:off x="4361259" y="379809"/>
            <a:ext cx="3782615" cy="71556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2100"/>
              <a:buFont typeface="Garamond"/>
              <a:buNone/>
            </a:pPr>
            <a:r>
              <a:rPr b="1" i="0" lang="en" sz="2100" u="none">
                <a:solidFill>
                  <a:schemeClr val="dk1"/>
                </a:solidFill>
                <a:latin typeface="Garamond"/>
                <a:ea typeface="Garamond"/>
                <a:cs typeface="Garamond"/>
                <a:sym typeface="Garamond"/>
              </a:rPr>
              <a:t>HAND-OFF FSM BETWEEN </a:t>
            </a:r>
            <a:endParaRPr sz="1100"/>
          </a:p>
          <a:p>
            <a:pPr indent="0" lvl="0" marL="0" marR="0" rtl="0" algn="l">
              <a:lnSpc>
                <a:spcPct val="100000"/>
              </a:lnSpc>
              <a:spcBef>
                <a:spcPts val="0"/>
              </a:spcBef>
              <a:spcAft>
                <a:spcPts val="0"/>
              </a:spcAft>
              <a:buClr>
                <a:schemeClr val="dk1"/>
              </a:buClr>
              <a:buSzPts val="2100"/>
              <a:buFont typeface="Garamond"/>
              <a:buNone/>
            </a:pPr>
            <a:r>
              <a:rPr b="1" i="0" lang="en" sz="2100" u="none">
                <a:solidFill>
                  <a:schemeClr val="dk1"/>
                </a:solidFill>
                <a:latin typeface="Garamond"/>
                <a:ea typeface="Garamond"/>
                <a:cs typeface="Garamond"/>
                <a:sym typeface="Garamond"/>
              </a:rPr>
              <a:t>AC3 AND BACKTRACKING </a:t>
            </a:r>
            <a:endParaRPr sz="1100"/>
          </a:p>
        </p:txBody>
      </p:sp>
      <p:sp>
        <p:nvSpPr>
          <p:cNvPr id="142" name="Google Shape;142;p24"/>
          <p:cNvSpPr txBox="1"/>
          <p:nvPr/>
        </p:nvSpPr>
        <p:spPr>
          <a:xfrm>
            <a:off x="4104075" y="1046551"/>
            <a:ext cx="4590000" cy="4363800"/>
          </a:xfrm>
          <a:prstGeom prst="rect">
            <a:avLst/>
          </a:prstGeom>
          <a:noFill/>
          <a:ln>
            <a:noFill/>
          </a:ln>
        </p:spPr>
        <p:txBody>
          <a:bodyPr anchorCtr="0" anchor="t" bIns="34275" lIns="68575" spcFirstLastPara="1" rIns="68575" wrap="square" tIns="34275">
            <a:spAutoFit/>
          </a:bodyPr>
          <a:lstStyle/>
          <a:p>
            <a:pPr indent="-336550" lvl="0" marL="3429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Wait for the AC3 controller result</a:t>
            </a:r>
            <a:endParaRPr sz="1100"/>
          </a:p>
          <a:p>
            <a:pPr indent="-336550" lvl="0" marL="3429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If Ac3_contradicts result, then FAIL, sets out_answer=2’b01</a:t>
            </a:r>
            <a:endParaRPr sz="1100"/>
          </a:p>
          <a:p>
            <a:pPr indent="-336550" lvl="0" marL="3429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HO_SCAN: iterates through all 81 cells and reads the mask, if only 1 bit is set, then passes the address and data, and fixes the singleton values, and marks the ac3_solved cell as 1. Once its in the 80</a:t>
            </a:r>
            <a:r>
              <a:rPr b="0" baseline="30000" i="0" lang="en" sz="1500" u="none">
                <a:solidFill>
                  <a:schemeClr val="dk1"/>
                </a:solidFill>
                <a:latin typeface="Garamond"/>
                <a:ea typeface="Garamond"/>
                <a:cs typeface="Garamond"/>
                <a:sym typeface="Garamond"/>
              </a:rPr>
              <a:t>th</a:t>
            </a:r>
            <a:r>
              <a:rPr b="0" i="0" lang="en" sz="1500" u="none">
                <a:solidFill>
                  <a:schemeClr val="dk1"/>
                </a:solidFill>
                <a:latin typeface="Garamond"/>
                <a:ea typeface="Garamond"/>
                <a:cs typeface="Garamond"/>
                <a:sym typeface="Garamond"/>
              </a:rPr>
              <a:t> cell, goes to HO_FINISH</a:t>
            </a:r>
            <a:endParaRPr sz="1100"/>
          </a:p>
          <a:p>
            <a:pPr indent="-336550" lvl="0" marL="3429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HO_Wait: set up for MRV SORT</a:t>
            </a:r>
            <a:endParaRPr b="0" i="0" sz="1500" u="none">
              <a:solidFill>
                <a:schemeClr val="dk1"/>
              </a:solidFill>
              <a:latin typeface="Garamond"/>
              <a:ea typeface="Garamond"/>
              <a:cs typeface="Garamond"/>
              <a:sym typeface="Garamond"/>
            </a:endParaRPr>
          </a:p>
          <a:p>
            <a:pPr indent="-336550" lvl="0" marL="3429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MRV SORT: 2 loops, outer loop, mrv_pass counts from 9🡪2 , inner loop , variable ho_cell scans from 0-80, if the, and fore each cell finds the popcount, i.e. no of bits set in the mask, if popcount==mrv_pass, pushes the cell into the stack.</a:t>
            </a:r>
            <a:endParaRPr sz="1100"/>
          </a:p>
          <a:p>
            <a:pPr indent="-336550" lvl="0" marL="342900" marR="0" rtl="0" algn="l">
              <a:lnSpc>
                <a:spcPct val="100000"/>
              </a:lnSpc>
              <a:spcBef>
                <a:spcPts val="0"/>
              </a:spcBef>
              <a:spcAft>
                <a:spcPts val="0"/>
              </a:spcAft>
              <a:buClr>
                <a:schemeClr val="dk1"/>
              </a:buClr>
              <a:buSzPts val="1500"/>
              <a:buFont typeface="Garamond"/>
              <a:buAutoNum type="arabicPeriod"/>
            </a:pPr>
            <a:r>
              <a:rPr b="0" i="0" lang="en" sz="1500" u="none">
                <a:solidFill>
                  <a:schemeClr val="dk1"/>
                </a:solidFill>
                <a:latin typeface="Garamond"/>
                <a:ea typeface="Garamond"/>
                <a:cs typeface="Garamond"/>
                <a:sym typeface="Garamond"/>
              </a:rPr>
              <a:t>When all the MRV cells are sent, MRV_FINISH</a:t>
            </a:r>
            <a:endParaRPr b="0" i="0" sz="1500" u="none">
              <a:solidFill>
                <a:schemeClr val="dk1"/>
              </a:solidFill>
              <a:latin typeface="Garamond"/>
              <a:ea typeface="Garamond"/>
              <a:cs typeface="Garamond"/>
              <a:sym typeface="Garamond"/>
            </a:endParaRPr>
          </a:p>
          <a:p>
            <a:pPr indent="-228600" lvl="0" marL="342900" marR="0" rtl="0" algn="l">
              <a:lnSpc>
                <a:spcPct val="100000"/>
              </a:lnSpc>
              <a:spcBef>
                <a:spcPts val="0"/>
              </a:spcBef>
              <a:spcAft>
                <a:spcPts val="0"/>
              </a:spcAft>
              <a:buClr>
                <a:schemeClr val="dk1"/>
              </a:buClr>
              <a:buSzPts val="1800"/>
              <a:buFont typeface="Garamond"/>
              <a:buNone/>
            </a:pPr>
            <a:r>
              <a:t/>
            </a:r>
            <a:endParaRPr b="0" i="0" sz="1800" u="none">
              <a:solidFill>
                <a:schemeClr val="dk1"/>
              </a:solidFill>
              <a:latin typeface="Garamond"/>
              <a:ea typeface="Garamond"/>
              <a:cs typeface="Garamond"/>
              <a:sym typeface="Garamond"/>
            </a:endParaRPr>
          </a:p>
          <a:p>
            <a:pPr indent="-228600" lvl="0" marL="342900" marR="0" rtl="0" algn="l">
              <a:lnSpc>
                <a:spcPct val="100000"/>
              </a:lnSpc>
              <a:spcBef>
                <a:spcPts val="0"/>
              </a:spcBef>
              <a:spcAft>
                <a:spcPts val="0"/>
              </a:spcAft>
              <a:buClr>
                <a:schemeClr val="dk1"/>
              </a:buClr>
              <a:buSzPts val="1800"/>
              <a:buFont typeface="Garamond"/>
              <a:buNone/>
            </a:pPr>
            <a:r>
              <a:t/>
            </a:r>
            <a:endParaRPr b="0" i="0" sz="1800" u="none">
              <a:solidFill>
                <a:schemeClr val="dk1"/>
              </a:solidFill>
              <a:latin typeface="Garamond"/>
              <a:ea typeface="Garamond"/>
              <a:cs typeface="Garamond"/>
              <a:sym typeface="Garamond"/>
            </a:endParaRPr>
          </a:p>
          <a:p>
            <a:pPr indent="0" lvl="0" marL="0" marR="0" rtl="0" algn="l">
              <a:lnSpc>
                <a:spcPct val="100000"/>
              </a:lnSpc>
              <a:spcBef>
                <a:spcPts val="0"/>
              </a:spcBef>
              <a:spcAft>
                <a:spcPts val="0"/>
              </a:spcAft>
              <a:buNone/>
            </a:pPr>
            <a:r>
              <a:t/>
            </a:r>
            <a:endParaRPr b="0" i="0" sz="1800" u="none">
              <a:solidFill>
                <a:schemeClr val="dk1"/>
              </a:solidFill>
              <a:latin typeface="Garamond"/>
              <a:ea typeface="Garamond"/>
              <a:cs typeface="Garamond"/>
              <a:sym typeface="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5"/>
          <p:cNvPicPr preferRelativeResize="0"/>
          <p:nvPr/>
        </p:nvPicPr>
        <p:blipFill rotWithShape="1">
          <a:blip r:embed="rId3">
            <a:alphaModFix/>
          </a:blip>
          <a:srcRect b="0" l="0" r="0" t="0"/>
          <a:stretch/>
        </p:blipFill>
        <p:spPr>
          <a:xfrm>
            <a:off x="102675" y="370275"/>
            <a:ext cx="3569024" cy="4322999"/>
          </a:xfrm>
          <a:prstGeom prst="rect">
            <a:avLst/>
          </a:prstGeom>
          <a:noFill/>
          <a:ln>
            <a:noFill/>
          </a:ln>
        </p:spPr>
      </p:pic>
      <p:sp>
        <p:nvSpPr>
          <p:cNvPr id="148" name="Google Shape;148;p25"/>
          <p:cNvSpPr txBox="1"/>
          <p:nvPr/>
        </p:nvSpPr>
        <p:spPr>
          <a:xfrm>
            <a:off x="4398747" y="459081"/>
            <a:ext cx="2702700" cy="392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chemeClr val="dk1"/>
              </a:buClr>
              <a:buSzPts val="2100"/>
              <a:buFont typeface="Garamond"/>
              <a:buNone/>
            </a:pPr>
            <a:r>
              <a:rPr b="1" i="0" lang="en" sz="2100" u="none">
                <a:solidFill>
                  <a:schemeClr val="dk1"/>
                </a:solidFill>
                <a:latin typeface="Garamond"/>
                <a:ea typeface="Garamond"/>
                <a:cs typeface="Garamond"/>
                <a:sym typeface="Garamond"/>
              </a:rPr>
              <a:t>UPDATER FSM</a:t>
            </a:r>
            <a:endParaRPr sz="1100"/>
          </a:p>
        </p:txBody>
      </p:sp>
      <p:sp>
        <p:nvSpPr>
          <p:cNvPr id="149" name="Google Shape;149;p25"/>
          <p:cNvSpPr txBox="1"/>
          <p:nvPr/>
        </p:nvSpPr>
        <p:spPr>
          <a:xfrm>
            <a:off x="3671700" y="1051675"/>
            <a:ext cx="5022300" cy="337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1"/>
                </a:solidFill>
                <a:latin typeface="Garamond"/>
                <a:ea typeface="Garamond"/>
                <a:cs typeface="Garamond"/>
                <a:sym typeface="Garamond"/>
              </a:rPr>
              <a:t>IDLE: Wait for empty cells position of the MRV</a:t>
            </a:r>
            <a:endParaRPr sz="1300">
              <a:solidFill>
                <a:schemeClr val="dk1"/>
              </a:solidFill>
              <a:latin typeface="Garamond"/>
              <a:ea typeface="Garamond"/>
              <a:cs typeface="Garamond"/>
              <a:sym typeface="Garamond"/>
            </a:endParaRPr>
          </a:p>
          <a:p>
            <a:pPr indent="0" lvl="0" marL="0" rtl="0" algn="l">
              <a:lnSpc>
                <a:spcPct val="115000"/>
              </a:lnSpc>
              <a:spcBef>
                <a:spcPts val="0"/>
              </a:spcBef>
              <a:spcAft>
                <a:spcPts val="0"/>
              </a:spcAft>
              <a:buNone/>
            </a:pPr>
            <a:r>
              <a:rPr lang="en" sz="1300">
                <a:solidFill>
                  <a:schemeClr val="dk1"/>
                </a:solidFill>
                <a:latin typeface="Garamond"/>
                <a:ea typeface="Garamond"/>
                <a:cs typeface="Garamond"/>
                <a:sym typeface="Garamond"/>
              </a:rPr>
              <a:t>INPUT: stores position of the unsolved cells from the AC3 Engine in the array shift_pos_r[],  candidate masks for the corresponding cells are stored in the candidate store</a:t>
            </a:r>
            <a:endParaRPr sz="1300">
              <a:solidFill>
                <a:schemeClr val="dk1"/>
              </a:solidFill>
              <a:latin typeface="Garamond"/>
              <a:ea typeface="Garamond"/>
              <a:cs typeface="Garamond"/>
              <a:sym typeface="Garamond"/>
            </a:endParaRPr>
          </a:p>
          <a:p>
            <a:pPr indent="0" lvl="0" marL="0" rtl="0" algn="l">
              <a:lnSpc>
                <a:spcPct val="115000"/>
              </a:lnSpc>
              <a:spcBef>
                <a:spcPts val="0"/>
              </a:spcBef>
              <a:spcAft>
                <a:spcPts val="0"/>
              </a:spcAft>
              <a:buNone/>
            </a:pPr>
            <a:r>
              <a:rPr lang="en" sz="1300">
                <a:solidFill>
                  <a:schemeClr val="dk1"/>
                </a:solidFill>
                <a:latin typeface="Garamond"/>
                <a:ea typeface="Garamond"/>
                <a:cs typeface="Garamond"/>
                <a:sym typeface="Garamond"/>
              </a:rPr>
              <a:t>WAIT: each of the possible guesses are sent to the checker, which checks if it’s a valid guess by comparing with 20 neighbouring cells</a:t>
            </a:r>
            <a:endParaRPr sz="1300">
              <a:solidFill>
                <a:schemeClr val="dk1"/>
              </a:solidFill>
              <a:latin typeface="Garamond"/>
              <a:ea typeface="Garamond"/>
              <a:cs typeface="Garamond"/>
              <a:sym typeface="Garamond"/>
            </a:endParaRPr>
          </a:p>
          <a:p>
            <a:pPr indent="0" lvl="0" marL="0" rtl="0" algn="l">
              <a:lnSpc>
                <a:spcPct val="115000"/>
              </a:lnSpc>
              <a:spcBef>
                <a:spcPts val="0"/>
              </a:spcBef>
              <a:spcAft>
                <a:spcPts val="0"/>
              </a:spcAft>
              <a:buNone/>
            </a:pPr>
            <a:r>
              <a:rPr lang="en" sz="1300">
                <a:solidFill>
                  <a:schemeClr val="dk1"/>
                </a:solidFill>
                <a:latin typeface="Garamond"/>
                <a:ea typeface="Garamond"/>
                <a:cs typeface="Garamond"/>
                <a:sym typeface="Garamond"/>
              </a:rPr>
              <a:t>UPDATE_SUCCESS: guessed value is valid, in_success is 1, update the suduko grid, move to the next unsolved cell in shift_pos_r[], and then try with corresponding masks</a:t>
            </a:r>
            <a:endParaRPr sz="1300">
              <a:solidFill>
                <a:schemeClr val="dk1"/>
              </a:solidFill>
              <a:latin typeface="Garamond"/>
              <a:ea typeface="Garamond"/>
              <a:cs typeface="Garamond"/>
              <a:sym typeface="Garamond"/>
            </a:endParaRPr>
          </a:p>
          <a:p>
            <a:pPr indent="0" lvl="0" marL="0" rtl="0" algn="l">
              <a:lnSpc>
                <a:spcPct val="115000"/>
              </a:lnSpc>
              <a:spcBef>
                <a:spcPts val="0"/>
              </a:spcBef>
              <a:spcAft>
                <a:spcPts val="0"/>
              </a:spcAft>
              <a:buNone/>
            </a:pPr>
            <a:r>
              <a:rPr lang="en" sz="1300">
                <a:solidFill>
                  <a:schemeClr val="dk1"/>
                </a:solidFill>
                <a:latin typeface="Garamond"/>
                <a:ea typeface="Garamond"/>
                <a:cs typeface="Garamond"/>
                <a:sym typeface="Garamond"/>
              </a:rPr>
              <a:t>UPDATE_FAILED: if the guessed value is failed then try with next possible candidate mask, if there are no possible candidates left for this mask, go to the previous cell and try with the other possible candidate mask which was not tried(BACKTRACKING). Failure of current cell means previous choice was wrong.</a:t>
            </a:r>
            <a:endParaRPr sz="1300">
              <a:solidFill>
                <a:schemeClr val="dk1"/>
              </a:solidFill>
              <a:latin typeface="Garamond"/>
              <a:ea typeface="Garamond"/>
              <a:cs typeface="Garamond"/>
              <a:sym typeface="Garamo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971550" y="736997"/>
            <a:ext cx="7200900" cy="977503"/>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rgbClr val="262626"/>
              </a:buClr>
              <a:buSzPts val="3300"/>
              <a:buFont typeface="Garamond"/>
              <a:buNone/>
            </a:pPr>
            <a:r>
              <a:rPr b="0" i="0" lang="en" sz="3300" u="none">
                <a:solidFill>
                  <a:srgbClr val="262626"/>
                </a:solidFill>
                <a:latin typeface="Garamond"/>
                <a:ea typeface="Garamond"/>
                <a:cs typeface="Garamond"/>
                <a:sym typeface="Garamond"/>
              </a:rPr>
              <a:t>UI Interface and How to play the Game?</a:t>
            </a:r>
            <a:endParaRPr/>
          </a:p>
        </p:txBody>
      </p:sp>
      <p:sp>
        <p:nvSpPr>
          <p:cNvPr id="155" name="Google Shape;155;p26"/>
          <p:cNvSpPr txBox="1"/>
          <p:nvPr>
            <p:ph idx="1" type="body"/>
          </p:nvPr>
        </p:nvSpPr>
        <p:spPr>
          <a:xfrm>
            <a:off x="971550" y="1918100"/>
            <a:ext cx="7470300" cy="2488500"/>
          </a:xfrm>
          <a:prstGeom prst="rect">
            <a:avLst/>
          </a:prstGeom>
          <a:noFill/>
          <a:ln>
            <a:noFill/>
          </a:ln>
        </p:spPr>
        <p:txBody>
          <a:bodyPr anchorCtr="0" anchor="t" bIns="34275" lIns="68575" spcFirstLastPara="1" rIns="68575" wrap="square" tIns="34275">
            <a:noAutofit/>
          </a:bodyPr>
          <a:lstStyle/>
          <a:p>
            <a:pPr indent="-346266" lvl="0" marL="342900" marR="0" rtl="0" algn="l">
              <a:lnSpc>
                <a:spcPct val="60000"/>
              </a:lnSpc>
              <a:spcBef>
                <a:spcPts val="0"/>
              </a:spcBef>
              <a:spcAft>
                <a:spcPts val="0"/>
              </a:spcAft>
              <a:buClr>
                <a:schemeClr val="accent1"/>
              </a:buClr>
              <a:buSzPts val="1853"/>
              <a:buFont typeface="Garamond"/>
              <a:buAutoNum type="arabicPeriod"/>
            </a:pPr>
            <a:r>
              <a:rPr b="0" i="0" lang="en" sz="1713" u="none" cap="none">
                <a:solidFill>
                  <a:srgbClr val="262626"/>
                </a:solidFill>
                <a:latin typeface="Garamond"/>
                <a:ea typeface="Garamond"/>
                <a:cs typeface="Garamond"/>
                <a:sym typeface="Garamond"/>
              </a:rPr>
              <a:t>Menu has 4 tabs, FPGA MODE, USER MODE, STATS, RESET selectable using the directional buttons(all buttons are debounced with a 20 bit counter)</a:t>
            </a:r>
            <a:endParaRPr sz="1923"/>
          </a:p>
          <a:p>
            <a:pPr indent="-346266" lvl="0" marL="342900" marR="0" rtl="0" algn="l">
              <a:lnSpc>
                <a:spcPct val="60000"/>
              </a:lnSpc>
              <a:spcBef>
                <a:spcPts val="800"/>
              </a:spcBef>
              <a:spcAft>
                <a:spcPts val="0"/>
              </a:spcAft>
              <a:buClr>
                <a:schemeClr val="accent1"/>
              </a:buClr>
              <a:buSzPts val="1853"/>
              <a:buFont typeface="Garamond"/>
              <a:buAutoNum type="arabicPeriod"/>
            </a:pPr>
            <a:r>
              <a:rPr b="0" i="0" lang="en" sz="1713" u="none" cap="none">
                <a:solidFill>
                  <a:srgbClr val="262626"/>
                </a:solidFill>
                <a:latin typeface="Garamond"/>
                <a:ea typeface="Garamond"/>
                <a:cs typeface="Garamond"/>
                <a:sym typeface="Garamond"/>
              </a:rPr>
              <a:t>SWITCHES: S15 is flicked down, the solution to the question is visible in the screen</a:t>
            </a:r>
            <a:endParaRPr sz="1923"/>
          </a:p>
          <a:p>
            <a:pPr indent="-346266" lvl="0" marL="342900" marR="0" rtl="0" algn="l">
              <a:lnSpc>
                <a:spcPct val="60000"/>
              </a:lnSpc>
              <a:spcBef>
                <a:spcPts val="800"/>
              </a:spcBef>
              <a:spcAft>
                <a:spcPts val="0"/>
              </a:spcAft>
              <a:buClr>
                <a:schemeClr val="accent1"/>
              </a:buClr>
              <a:buSzPts val="1853"/>
              <a:buFont typeface="Garamond"/>
              <a:buAutoNum type="arabicPeriod"/>
            </a:pPr>
            <a:r>
              <a:rPr b="0" i="0" lang="en" sz="1713" u="none" cap="none">
                <a:solidFill>
                  <a:srgbClr val="262626"/>
                </a:solidFill>
                <a:latin typeface="Garamond"/>
                <a:ea typeface="Garamond"/>
                <a:cs typeface="Garamond"/>
                <a:sym typeface="Garamond"/>
              </a:rPr>
              <a:t>In USER MODE, the board is cleared, the user can input the numbers using switches 3:0, and flick S14 up, for loading the number onto the board</a:t>
            </a:r>
            <a:endParaRPr sz="1923"/>
          </a:p>
          <a:p>
            <a:pPr indent="-346266" lvl="0" marL="342900" marR="0" rtl="0" algn="l">
              <a:lnSpc>
                <a:spcPct val="60000"/>
              </a:lnSpc>
              <a:spcBef>
                <a:spcPts val="800"/>
              </a:spcBef>
              <a:spcAft>
                <a:spcPts val="0"/>
              </a:spcAft>
              <a:buClr>
                <a:schemeClr val="accent1"/>
              </a:buClr>
              <a:buSzPts val="1853"/>
              <a:buFont typeface="Garamond"/>
              <a:buAutoNum type="arabicPeriod"/>
            </a:pPr>
            <a:r>
              <a:rPr b="0" i="0" lang="en" sz="1713" u="none" cap="none">
                <a:solidFill>
                  <a:srgbClr val="262626"/>
                </a:solidFill>
                <a:latin typeface="Garamond"/>
                <a:ea typeface="Garamond"/>
                <a:cs typeface="Garamond"/>
                <a:sym typeface="Garamond"/>
              </a:rPr>
              <a:t>If any conflict occurs while loading the input, then the cells with conflict is highlighted in red</a:t>
            </a:r>
            <a:endParaRPr sz="1923"/>
          </a:p>
          <a:p>
            <a:pPr indent="-346266" lvl="0" marL="342900" marR="0" rtl="0" algn="l">
              <a:lnSpc>
                <a:spcPct val="60000"/>
              </a:lnSpc>
              <a:spcBef>
                <a:spcPts val="800"/>
              </a:spcBef>
              <a:spcAft>
                <a:spcPts val="0"/>
              </a:spcAft>
              <a:buClr>
                <a:schemeClr val="accent1"/>
              </a:buClr>
              <a:buSzPts val="1853"/>
              <a:buFont typeface="Garamond"/>
              <a:buAutoNum type="arabicPeriod"/>
            </a:pPr>
            <a:r>
              <a:rPr b="0" i="0" lang="en" sz="1713" u="none" cap="none">
                <a:solidFill>
                  <a:srgbClr val="262626"/>
                </a:solidFill>
                <a:latin typeface="Garamond"/>
                <a:ea typeface="Garamond"/>
                <a:cs typeface="Garamond"/>
                <a:sym typeface="Garamond"/>
              </a:rPr>
              <a:t>When a question is sent through python and we want the hint for that particular cell, then S13 can be flicked up </a:t>
            </a:r>
            <a:endParaRPr sz="1923"/>
          </a:p>
          <a:p>
            <a:pPr indent="0" lvl="0" marL="215900" marR="0" rtl="0" algn="l">
              <a:lnSpc>
                <a:spcPct val="60000"/>
              </a:lnSpc>
              <a:spcBef>
                <a:spcPts val="800"/>
              </a:spcBef>
              <a:spcAft>
                <a:spcPts val="0"/>
              </a:spcAft>
              <a:buSzPts val="770"/>
              <a:buNone/>
            </a:pPr>
            <a:r>
              <a:t/>
            </a:r>
            <a:endParaRPr sz="1560"/>
          </a:p>
          <a:p>
            <a:pPr indent="-228600" lvl="0" marL="342900" marR="0" rtl="0" algn="l">
              <a:lnSpc>
                <a:spcPct val="60000"/>
              </a:lnSpc>
              <a:spcBef>
                <a:spcPts val="800"/>
              </a:spcBef>
              <a:spcAft>
                <a:spcPts val="0"/>
              </a:spcAft>
              <a:buClr>
                <a:schemeClr val="accent1"/>
              </a:buClr>
              <a:buSzPts val="1190"/>
              <a:buFont typeface="Garamond"/>
              <a:buNone/>
            </a:pPr>
            <a:r>
              <a:t/>
            </a:r>
            <a:endParaRPr b="0" i="0" sz="1350" u="none" cap="none">
              <a:solidFill>
                <a:srgbClr val="262626"/>
              </a:solidFill>
              <a:latin typeface="Garamond"/>
              <a:ea typeface="Garamond"/>
              <a:cs typeface="Garamond"/>
              <a:sym typeface="Garamond"/>
            </a:endParaRPr>
          </a:p>
          <a:p>
            <a:pPr indent="-228600" lvl="0" marL="342900" marR="0" rtl="0" algn="l">
              <a:lnSpc>
                <a:spcPct val="60000"/>
              </a:lnSpc>
              <a:spcBef>
                <a:spcPts val="800"/>
              </a:spcBef>
              <a:spcAft>
                <a:spcPts val="0"/>
              </a:spcAft>
              <a:buClr>
                <a:schemeClr val="accent1"/>
              </a:buClr>
              <a:buSzPts val="1190"/>
              <a:buFont typeface="Garamond"/>
              <a:buNone/>
            </a:pPr>
            <a:r>
              <a:t/>
            </a:r>
            <a:endParaRPr b="0" i="0" sz="1350" u="none" cap="none">
              <a:solidFill>
                <a:srgbClr val="262626"/>
              </a:solidFill>
              <a:latin typeface="Garamond"/>
              <a:ea typeface="Garamond"/>
              <a:cs typeface="Garamond"/>
              <a:sym typeface="Garamond"/>
            </a:endParaRPr>
          </a:p>
          <a:p>
            <a:pPr indent="-101600" lvl="0" marL="215900" marR="0" rtl="0" algn="l">
              <a:lnSpc>
                <a:spcPct val="80000"/>
              </a:lnSpc>
              <a:spcBef>
                <a:spcPts val="800"/>
              </a:spcBef>
              <a:spcAft>
                <a:spcPts val="0"/>
              </a:spcAft>
              <a:buClr>
                <a:schemeClr val="accent1"/>
              </a:buClr>
              <a:buSzPts val="1190"/>
              <a:buFont typeface="Arial"/>
              <a:buNone/>
            </a:pPr>
            <a:r>
              <a:t/>
            </a:r>
            <a:endParaRPr b="0" i="0" sz="1350" u="none" cap="none">
              <a:solidFill>
                <a:srgbClr val="262626"/>
              </a:solidFill>
              <a:latin typeface="Garamond"/>
              <a:ea typeface="Garamond"/>
              <a:cs typeface="Garamond"/>
              <a:sym typeface="Garamo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971550" y="502345"/>
            <a:ext cx="7200900" cy="5763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rgbClr val="262626"/>
              </a:buClr>
              <a:buSzPts val="3300"/>
              <a:buFont typeface="Garamond"/>
              <a:buNone/>
            </a:pPr>
            <a:r>
              <a:rPr b="0" i="0" lang="en" sz="3300" u="none">
                <a:solidFill>
                  <a:srgbClr val="262626"/>
                </a:solidFill>
                <a:latin typeface="Garamond"/>
                <a:ea typeface="Garamond"/>
                <a:cs typeface="Garamond"/>
                <a:sym typeface="Garamond"/>
              </a:rPr>
              <a:t>VGA</a:t>
            </a:r>
            <a:endParaRPr/>
          </a:p>
        </p:txBody>
      </p:sp>
      <p:sp>
        <p:nvSpPr>
          <p:cNvPr id="161" name="Google Shape;161;p27"/>
          <p:cNvSpPr txBox="1"/>
          <p:nvPr/>
        </p:nvSpPr>
        <p:spPr>
          <a:xfrm>
            <a:off x="532250" y="966625"/>
            <a:ext cx="73029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262626"/>
                </a:solidFill>
                <a:latin typeface="Garamond"/>
                <a:ea typeface="Garamond"/>
                <a:cs typeface="Garamond"/>
                <a:sym typeface="Garamond"/>
              </a:rPr>
              <a:t>VGA Sync generator: Generates coordinates timing signals for 640 × 480 @ 60 Hz display</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rPr lang="en" sz="1600">
                <a:solidFill>
                  <a:srgbClr val="262626"/>
                </a:solidFill>
                <a:latin typeface="Garamond"/>
                <a:ea typeface="Garamond"/>
                <a:cs typeface="Garamond"/>
                <a:sym typeface="Garamond"/>
              </a:rPr>
              <a:t>• Uses a 25 MHz pixel clock derived from 100 MHz system , each pixel is displayed every 40ns</a:t>
            </a:r>
            <a:endParaRPr sz="1600">
              <a:solidFill>
                <a:srgbClr val="262626"/>
              </a:solidFill>
              <a:latin typeface="Garamond"/>
              <a:ea typeface="Garamond"/>
              <a:cs typeface="Garamond"/>
              <a:sym typeface="Garamond"/>
            </a:endParaRPr>
          </a:p>
        </p:txBody>
      </p:sp>
      <p:sp>
        <p:nvSpPr>
          <p:cNvPr id="162" name="Google Shape;162;p27"/>
          <p:cNvSpPr txBox="1"/>
          <p:nvPr/>
        </p:nvSpPr>
        <p:spPr>
          <a:xfrm>
            <a:off x="597575" y="1950950"/>
            <a:ext cx="52962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262626"/>
                </a:solidFill>
                <a:latin typeface="Garamond"/>
                <a:ea typeface="Garamond"/>
                <a:cs typeface="Garamond"/>
                <a:sym typeface="Garamond"/>
              </a:rPr>
              <a:t>• VGA sync generates pixel coordinates and synchronization signals, scanning the entire 640×480 screen  </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rPr lang="en" sz="1600">
                <a:solidFill>
                  <a:srgbClr val="262626"/>
                </a:solidFill>
                <a:latin typeface="Garamond"/>
                <a:ea typeface="Garamond"/>
                <a:cs typeface="Garamond"/>
                <a:sym typeface="Garamond"/>
              </a:rPr>
              <a:t>• VGA renderer uses these coordinates to determine the current cell and fetches data from display RAM / solution RAM  </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rPr lang="en" sz="1600">
                <a:solidFill>
                  <a:srgbClr val="262626"/>
                </a:solidFill>
                <a:latin typeface="Garamond"/>
                <a:ea typeface="Garamond"/>
                <a:cs typeface="Garamond"/>
                <a:sym typeface="Garamond"/>
              </a:rPr>
              <a:t>• Bitmap font (glyph ROM) is used to render digits within each cell </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rPr lang="en" sz="1600">
                <a:solidFill>
                  <a:srgbClr val="262626"/>
                </a:solidFill>
                <a:latin typeface="Garamond"/>
                <a:ea typeface="Garamond"/>
                <a:cs typeface="Garamond"/>
                <a:sym typeface="Garamond"/>
              </a:rPr>
              <a:t>• Renderer assigns RGB values for each pixel and outputs signals to the monitor  </a:t>
            </a:r>
            <a:endParaRPr sz="1600">
              <a:solidFill>
                <a:srgbClr val="262626"/>
              </a:solidFill>
              <a:latin typeface="Garamond"/>
              <a:ea typeface="Garamond"/>
              <a:cs typeface="Garamond"/>
              <a:sym typeface="Garamond"/>
            </a:endParaRPr>
          </a:p>
          <a:p>
            <a:pPr indent="-298450" lvl="0" marL="457200" rtl="0" algn="l">
              <a:spcBef>
                <a:spcPts val="0"/>
              </a:spcBef>
              <a:spcAft>
                <a:spcPts val="0"/>
              </a:spcAft>
              <a:buClr>
                <a:srgbClr val="262626"/>
              </a:buClr>
              <a:buSzPts val="1100"/>
              <a:buFont typeface="Garamond"/>
              <a:buChar char="●"/>
            </a:pPr>
            <a:r>
              <a:rPr lang="en" sz="1600">
                <a:solidFill>
                  <a:srgbClr val="262626"/>
                </a:solidFill>
                <a:latin typeface="Garamond"/>
                <a:ea typeface="Garamond"/>
                <a:cs typeface="Garamond"/>
                <a:sym typeface="Garamond"/>
              </a:rPr>
              <a:t>The board alone is 432x432, each cell is 48x48</a:t>
            </a:r>
            <a:endParaRPr sz="1600">
              <a:solidFill>
                <a:srgbClr val="262626"/>
              </a:solidFill>
              <a:latin typeface="Garamond"/>
              <a:ea typeface="Garamond"/>
              <a:cs typeface="Garamond"/>
              <a:sym typeface="Garamond"/>
            </a:endParaRPr>
          </a:p>
          <a:p>
            <a:pPr indent="-298450" lvl="0" marL="457200" rtl="0" algn="l">
              <a:spcBef>
                <a:spcPts val="0"/>
              </a:spcBef>
              <a:spcAft>
                <a:spcPts val="0"/>
              </a:spcAft>
              <a:buClr>
                <a:srgbClr val="262626"/>
              </a:buClr>
              <a:buSzPts val="1100"/>
              <a:buFont typeface="Garamond"/>
              <a:buChar char="●"/>
            </a:pPr>
            <a:r>
              <a:rPr lang="en" sz="1600">
                <a:solidFill>
                  <a:srgbClr val="262626"/>
                </a:solidFill>
                <a:latin typeface="Garamond"/>
                <a:ea typeface="Garamond"/>
                <a:cs typeface="Garamond"/>
                <a:sym typeface="Garamond"/>
              </a:rPr>
              <a:t>Each pixel has 3 channels and 4 bits per channel(4096 combinations)</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t/>
            </a:r>
            <a:endParaRPr sz="1600">
              <a:solidFill>
                <a:srgbClr val="262626"/>
              </a:solidFill>
              <a:latin typeface="Garamond"/>
              <a:ea typeface="Garamond"/>
              <a:cs typeface="Garamond"/>
              <a:sym typeface="Garamond"/>
            </a:endParaRPr>
          </a:p>
        </p:txBody>
      </p:sp>
      <p:sp>
        <p:nvSpPr>
          <p:cNvPr id="163" name="Google Shape;163;p27"/>
          <p:cNvSpPr txBox="1"/>
          <p:nvPr/>
        </p:nvSpPr>
        <p:spPr>
          <a:xfrm>
            <a:off x="5946300" y="1829625"/>
            <a:ext cx="26916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62626"/>
                </a:solidFill>
                <a:latin typeface="Garamond"/>
                <a:ea typeface="Garamond"/>
                <a:cs typeface="Garamond"/>
                <a:sym typeface="Garamond"/>
              </a:rPr>
              <a:t> </a:t>
            </a:r>
            <a:r>
              <a:rPr lang="en" sz="1600">
                <a:solidFill>
                  <a:srgbClr val="262626"/>
                </a:solidFill>
                <a:latin typeface="Garamond"/>
                <a:ea typeface="Garamond"/>
                <a:cs typeface="Garamond"/>
                <a:sym typeface="Garamond"/>
              </a:rPr>
              <a:t>Implemented as a 2-stage pipeline:</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rPr lang="en" sz="1600">
                <a:solidFill>
                  <a:srgbClr val="262626"/>
                </a:solidFill>
                <a:latin typeface="Garamond"/>
                <a:ea typeface="Garamond"/>
                <a:cs typeface="Garamond"/>
                <a:sym typeface="Garamond"/>
              </a:rPr>
              <a:t>• Stage 1 computes geometry, memory lookup, and glyph decoding  </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rPr lang="en" sz="1600">
                <a:solidFill>
                  <a:srgbClr val="262626"/>
                </a:solidFill>
                <a:latin typeface="Garamond"/>
                <a:ea typeface="Garamond"/>
                <a:cs typeface="Garamond"/>
                <a:sym typeface="Garamond"/>
              </a:rPr>
              <a:t>• Stage 2 performs final RGB color selection </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rPr lang="en" sz="1600">
                <a:solidFill>
                  <a:srgbClr val="262626"/>
                </a:solidFill>
                <a:latin typeface="Garamond"/>
                <a:ea typeface="Garamond"/>
                <a:cs typeface="Garamond"/>
                <a:sym typeface="Garamond"/>
              </a:rPr>
              <a:t>• Outputs RGB signals (vga_r, vga_g, vga_b) for display  </a:t>
            </a:r>
            <a:endParaRPr sz="1600">
              <a:solidFill>
                <a:srgbClr val="262626"/>
              </a:solidFill>
              <a:latin typeface="Garamond"/>
              <a:ea typeface="Garamond"/>
              <a:cs typeface="Garamond"/>
              <a:sym typeface="Garamond"/>
            </a:endParaRPr>
          </a:p>
          <a:p>
            <a:pPr indent="0" lvl="0" marL="0" rtl="0" algn="l">
              <a:spcBef>
                <a:spcPts val="0"/>
              </a:spcBef>
              <a:spcAft>
                <a:spcPts val="0"/>
              </a:spcAft>
              <a:buNone/>
            </a:pPr>
            <a:r>
              <a:t/>
            </a:r>
            <a:endParaRPr sz="1800">
              <a:solidFill>
                <a:srgbClr val="262626"/>
              </a:solidFill>
              <a:latin typeface="Garamond"/>
              <a:ea typeface="Garamond"/>
              <a:cs typeface="Garamond"/>
              <a:sym typeface="Garamo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971550" y="736997"/>
            <a:ext cx="7200900" cy="977503"/>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rgbClr val="262626"/>
              </a:buClr>
              <a:buSzPts val="3300"/>
              <a:buFont typeface="Garamond"/>
              <a:buNone/>
            </a:pPr>
            <a:r>
              <a:rPr b="0" i="0" lang="en" sz="3300" u="none">
                <a:solidFill>
                  <a:srgbClr val="262626"/>
                </a:solidFill>
                <a:latin typeface="Garamond"/>
                <a:ea typeface="Garamond"/>
                <a:cs typeface="Garamond"/>
                <a:sym typeface="Garamond"/>
              </a:rPr>
              <a:t>Performance Counters/Stats tab</a:t>
            </a:r>
            <a:endParaRPr/>
          </a:p>
        </p:txBody>
      </p:sp>
      <p:pic>
        <p:nvPicPr>
          <p:cNvPr id="169" name="Google Shape;169;p28"/>
          <p:cNvPicPr preferRelativeResize="0"/>
          <p:nvPr/>
        </p:nvPicPr>
        <p:blipFill rotWithShape="1">
          <a:blip r:embed="rId3">
            <a:alphaModFix/>
          </a:blip>
          <a:srcRect b="0" l="0" r="0" t="0"/>
          <a:stretch/>
        </p:blipFill>
        <p:spPr>
          <a:xfrm>
            <a:off x="1306125" y="1927625"/>
            <a:ext cx="6459225" cy="2431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1083575" y="809997"/>
            <a:ext cx="7200900" cy="9774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rgbClr val="262626"/>
              </a:buClr>
              <a:buSzPts val="3300"/>
              <a:buFont typeface="Garamond"/>
              <a:buNone/>
            </a:pPr>
            <a:r>
              <a:rPr b="0" i="0" lang="en" sz="3300" u="none">
                <a:solidFill>
                  <a:srgbClr val="262626"/>
                </a:solidFill>
                <a:latin typeface="Garamond"/>
                <a:ea typeface="Garamond"/>
                <a:cs typeface="Garamond"/>
                <a:sym typeface="Garamond"/>
              </a:rPr>
              <a:t>DESIGN PRINCIPLES</a:t>
            </a:r>
            <a:endParaRPr/>
          </a:p>
        </p:txBody>
      </p:sp>
      <p:sp>
        <p:nvSpPr>
          <p:cNvPr id="175" name="Google Shape;175;p29"/>
          <p:cNvSpPr txBox="1"/>
          <p:nvPr>
            <p:ph idx="1" type="body"/>
          </p:nvPr>
        </p:nvSpPr>
        <p:spPr>
          <a:xfrm>
            <a:off x="924875" y="1787397"/>
            <a:ext cx="7200900" cy="2825400"/>
          </a:xfrm>
          <a:prstGeom prst="rect">
            <a:avLst/>
          </a:prstGeom>
          <a:noFill/>
          <a:ln>
            <a:noFill/>
          </a:ln>
        </p:spPr>
        <p:txBody>
          <a:bodyPr anchorCtr="0" anchor="t" bIns="34275" lIns="68575" spcFirstLastPara="1" rIns="68575" wrap="square" tIns="34275">
            <a:normAutofit/>
          </a:bodyPr>
          <a:lstStyle/>
          <a:p>
            <a:pPr indent="-222250" lvl="0" marL="215900" marR="0" rtl="0" algn="l">
              <a:lnSpc>
                <a:spcPct val="80000"/>
              </a:lnSpc>
              <a:spcBef>
                <a:spcPts val="0"/>
              </a:spcBef>
              <a:spcAft>
                <a:spcPts val="0"/>
              </a:spcAft>
              <a:buClr>
                <a:schemeClr val="accent1"/>
              </a:buClr>
              <a:buSzPts val="1500"/>
              <a:buFont typeface="Arial"/>
              <a:buChar char="•"/>
            </a:pPr>
            <a:r>
              <a:rPr b="0" i="0" lang="en" sz="1300" u="none" cap="none">
                <a:solidFill>
                  <a:srgbClr val="262626"/>
                </a:solidFill>
                <a:latin typeface="Garamond"/>
                <a:ea typeface="Garamond"/>
                <a:cs typeface="Garamond"/>
                <a:sym typeface="Garamond"/>
              </a:rPr>
              <a:t>Candidate-store bus width. The rd mask all bus is 81 × 9 = 729 bits wide. Routing 729 signals from the candidate-store registers to the AC-3 engine and handoff FSM in a single cycle would violate timing at 100MHz. The solution is to declare multicycle-path constraints (2-setup / 1-hold) for these paths, allowing the router two clock cycles to close timing while the logic consumes only one pipeline stage. </a:t>
            </a:r>
            <a:endParaRPr/>
          </a:p>
          <a:p>
            <a:pPr indent="-222250" lvl="0" marL="215900" marR="0" rtl="0" algn="l">
              <a:lnSpc>
                <a:spcPct val="80000"/>
              </a:lnSpc>
              <a:spcBef>
                <a:spcPts val="700"/>
              </a:spcBef>
              <a:spcAft>
                <a:spcPts val="0"/>
              </a:spcAft>
              <a:buClr>
                <a:schemeClr val="accent1"/>
              </a:buClr>
              <a:buSzPts val="1500"/>
              <a:buFont typeface="Arial"/>
              <a:buChar char="•"/>
            </a:pPr>
            <a:r>
              <a:rPr b="0" i="0" lang="en" sz="1300" u="none" cap="none">
                <a:solidFill>
                  <a:srgbClr val="262626"/>
                </a:solidFill>
                <a:latin typeface="Garamond"/>
                <a:ea typeface="Garamond"/>
                <a:cs typeface="Garamond"/>
                <a:sym typeface="Garamond"/>
              </a:rPr>
              <a:t>Board-flat bus. Similarly, the 81 ×4 = 324-bit board-flat bus from the display RAM to the VGA pipeline Stage-1 registers is declared as a multicycle path. Since pix en fires only every four clocks, four full 100MHz cycles are actually available between successive pixel activations, making the 2-cycle relaxation entirely conservative. </a:t>
            </a:r>
            <a:endParaRPr/>
          </a:p>
          <a:p>
            <a:pPr indent="-222250" lvl="0" marL="215900" marR="0" rtl="0" algn="l">
              <a:lnSpc>
                <a:spcPct val="80000"/>
              </a:lnSpc>
              <a:spcBef>
                <a:spcPts val="700"/>
              </a:spcBef>
              <a:spcAft>
                <a:spcPts val="0"/>
              </a:spcAft>
              <a:buClr>
                <a:schemeClr val="accent1"/>
              </a:buClr>
              <a:buSzPts val="1500"/>
              <a:buFont typeface="Arial"/>
              <a:buChar char="•"/>
            </a:pPr>
            <a:r>
              <a:rPr b="0" i="0" lang="en" sz="1300" u="none" cap="none">
                <a:solidFill>
                  <a:srgbClr val="262626"/>
                </a:solidFill>
                <a:latin typeface="Garamond"/>
                <a:ea typeface="Garamond"/>
                <a:cs typeface="Garamond"/>
                <a:sym typeface="Garamond"/>
              </a:rPr>
              <a:t>Two-stage VGA pipeline. The renderer separates pixel processing into two registered stages: Stage-1 evaluates all geometry (cell membership, cursor overlap, font glyph lookup, conflict state) in one clock; Stage-2 (colour select) reads only Stage-1 outputs. No single combinational path stretches from raw pixel coordinates to RGB output, keeping all paths within one clock period</a:t>
            </a:r>
            <a:endParaRPr/>
          </a:p>
          <a:p>
            <a:pPr indent="-222250" lvl="0" marL="215900" marR="0" rtl="0" algn="l">
              <a:lnSpc>
                <a:spcPct val="80000"/>
              </a:lnSpc>
              <a:spcBef>
                <a:spcPts val="700"/>
              </a:spcBef>
              <a:spcAft>
                <a:spcPts val="0"/>
              </a:spcAft>
              <a:buClr>
                <a:schemeClr val="accent1"/>
              </a:buClr>
              <a:buSzPts val="1500"/>
              <a:buFont typeface="Arial"/>
              <a:buChar char="•"/>
            </a:pPr>
            <a:r>
              <a:rPr b="0" i="0" lang="en" sz="1300" u="none" cap="none">
                <a:solidFill>
                  <a:srgbClr val="262626"/>
                </a:solidFill>
                <a:latin typeface="Garamond"/>
                <a:ea typeface="Garamond"/>
                <a:cs typeface="Garamond"/>
                <a:sym typeface="Garamond"/>
              </a:rPr>
              <a:t>A pipelined conflict detector that avoids integer division in index computation by replacing runtime arithmetic with registered lookup tables, enabling a 27-comparison full-board scan at 100MHz within a 30-cycle pipeline.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1221581" y="540544"/>
            <a:ext cx="6816328" cy="977503"/>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Clr>
                <a:srgbClr val="262626"/>
              </a:buClr>
              <a:buSzPts val="3300"/>
              <a:buFont typeface="Garamond"/>
              <a:buNone/>
            </a:pPr>
            <a:r>
              <a:rPr b="0" i="0" lang="en" sz="3300" u="none">
                <a:solidFill>
                  <a:srgbClr val="262626"/>
                </a:solidFill>
                <a:latin typeface="Garamond"/>
                <a:ea typeface="Garamond"/>
                <a:cs typeface="Garamond"/>
                <a:sym typeface="Garamond"/>
              </a:rPr>
              <a:t>Timing, Power and Resource Utilization</a:t>
            </a:r>
            <a:endParaRPr/>
          </a:p>
        </p:txBody>
      </p:sp>
      <p:pic>
        <p:nvPicPr>
          <p:cNvPr id="181" name="Google Shape;181;p30"/>
          <p:cNvPicPr preferRelativeResize="0"/>
          <p:nvPr/>
        </p:nvPicPr>
        <p:blipFill rotWithShape="1">
          <a:blip r:embed="rId3">
            <a:alphaModFix/>
          </a:blip>
          <a:srcRect b="0" l="0" r="0" t="0"/>
          <a:stretch/>
        </p:blipFill>
        <p:spPr>
          <a:xfrm>
            <a:off x="670322" y="1440656"/>
            <a:ext cx="3931444" cy="1262063"/>
          </a:xfrm>
          <a:prstGeom prst="rect">
            <a:avLst/>
          </a:prstGeom>
          <a:noFill/>
          <a:ln>
            <a:noFill/>
          </a:ln>
        </p:spPr>
      </p:pic>
      <p:pic>
        <p:nvPicPr>
          <p:cNvPr id="182" name="Google Shape;182;p30"/>
          <p:cNvPicPr preferRelativeResize="0"/>
          <p:nvPr/>
        </p:nvPicPr>
        <p:blipFill rotWithShape="1">
          <a:blip r:embed="rId4">
            <a:alphaModFix/>
          </a:blip>
          <a:srcRect b="0" l="0" r="0" t="0"/>
          <a:stretch/>
        </p:blipFill>
        <p:spPr>
          <a:xfrm>
            <a:off x="640556" y="2871788"/>
            <a:ext cx="3931444" cy="1691878"/>
          </a:xfrm>
          <a:prstGeom prst="rect">
            <a:avLst/>
          </a:prstGeom>
          <a:noFill/>
          <a:ln>
            <a:noFill/>
          </a:ln>
        </p:spPr>
      </p:pic>
      <p:pic>
        <p:nvPicPr>
          <p:cNvPr id="183" name="Google Shape;183;p30"/>
          <p:cNvPicPr preferRelativeResize="0"/>
          <p:nvPr/>
        </p:nvPicPr>
        <p:blipFill rotWithShape="1">
          <a:blip r:embed="rId5">
            <a:alphaModFix/>
          </a:blip>
          <a:srcRect b="0" l="0" r="0" t="0"/>
          <a:stretch/>
        </p:blipFill>
        <p:spPr>
          <a:xfrm>
            <a:off x="4601765" y="1440656"/>
            <a:ext cx="4142184" cy="312300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971550" y="1819847"/>
            <a:ext cx="7200900" cy="9774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4600"/>
              <a:t>THANK YOU</a:t>
            </a:r>
            <a:endParaRPr sz="4900"/>
          </a:p>
        </p:txBody>
      </p:sp>
    </p:spTree>
  </p:cSld>
  <p:clrMapOvr>
    <a:masterClrMapping/>
  </p:clrMapOvr>
</p:sld>
</file>

<file path=ppt/theme/theme1.xml><?xml version="1.0" encoding="utf-8"?>
<a:theme xmlns:a="http://schemas.openxmlformats.org/drawingml/2006/main" xmlns:r="http://schemas.openxmlformats.org/officeDocument/2006/relationships" name="1_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